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1" roundtripDataSignature="AMtx7mjcwg98SyNP6/LcpE+EYBVxhun4f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BA20E25-5E9B-401E-AE2F-8BE1551E54DC}">
  <a:tblStyle styleId="{9BA20E25-5E9B-401E-AE2F-8BE1551E54DC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customschemas.google.com/relationships/presentationmetadata" Target="metadata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" name="Google Shape;2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1" name="Google Shape;20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7" name="Google Shape;24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3" name="Google Shape;29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4" name="Google Shape;314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4" name="Google Shape;324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e28f220edb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4" name="Google Shape;334;g3e28f220edb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g3e28f220edb_1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4" name="Google Shape;344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3e28f220edb_1_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4" name="Google Shape;354;g3e28f220edb_1_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g3e28f220edb_1_1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e28f220edb_1_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4" name="Google Shape;364;g3e28f220edb_1_4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g3e28f220edb_1_4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7" name="Google Shape;387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0" name="Google Shape;400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3" name="Google Shape;413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0" name="Google Shape;430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6" name="Google Shape;466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3e2ac56ac0a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6" name="Google Shape;476;g3e2ac56ac0a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g3e2ac56ac0a_1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9" name="Google Shape;489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2" name="Google Shape;512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7.png"/><Relationship Id="rId4" Type="http://schemas.openxmlformats.org/officeDocument/2006/relationships/image" Target="../media/image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1.png"/><Relationship Id="rId4" Type="http://schemas.openxmlformats.org/officeDocument/2006/relationships/image" Target="../media/image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6BAE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2A5F5"/>
          </a:solidFill>
          <a:ln cap="flat" cmpd="sng" w="12700">
            <a:solidFill>
              <a:srgbClr val="42A5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457200" y="1101840"/>
            <a:ext cx="8229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Predicción de Riesgo Cardíaco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457200" y="1741920"/>
            <a:ext cx="8229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BDEFB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BBDEFB"/>
                </a:solidFill>
                <a:latin typeface="Calibri"/>
                <a:ea typeface="Calibri"/>
                <a:cs typeface="Calibri"/>
                <a:sym typeface="Calibri"/>
              </a:rPr>
              <a:t>con Privacidad, Explicabilidad y Equidad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1828800" y="2336280"/>
            <a:ext cx="5486400" cy="45600"/>
          </a:xfrm>
          <a:prstGeom prst="rect">
            <a:avLst/>
          </a:prstGeom>
          <a:solidFill>
            <a:srgbClr val="42A5F5"/>
          </a:solidFill>
          <a:ln cap="flat" cmpd="sng" w="12700">
            <a:solidFill>
              <a:srgbClr val="42A5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457200" y="2473440"/>
            <a:ext cx="8229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0CAF9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90CAF9"/>
                </a:solidFill>
                <a:latin typeface="Calibri"/>
                <a:ea typeface="Calibri"/>
                <a:cs typeface="Calibri"/>
                <a:sym typeface="Calibri"/>
              </a:rPr>
              <a:t>UCI Heart Disease Dataset · Aprendizaje Avanzado 2025/2026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457200" y="2884920"/>
            <a:ext cx="82296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3F2FD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3F2FD"/>
                </a:solidFill>
                <a:latin typeface="Calibri"/>
                <a:ea typeface="Calibri"/>
                <a:cs typeface="Calibri"/>
                <a:sym typeface="Calibri"/>
              </a:rPr>
              <a:t>Marcos Francés Requena · Luna Camacho Boluda</a:t>
            </a:r>
            <a:br>
              <a:rPr b="0" i="0" lang="en-US" sz="1200" u="none" cap="none" strike="noStrike">
                <a:solidFill>
                  <a:srgbClr val="E3F2FD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3F2FD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3F2FD"/>
                </a:solidFill>
                <a:latin typeface="Calibri"/>
                <a:ea typeface="Calibri"/>
                <a:cs typeface="Calibri"/>
                <a:sym typeface="Calibri"/>
              </a:rPr>
              <a:t>Irene Fátima Robles Cano · Ángel Adrián Bustios Cancino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457200" y="3707880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0CAF9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90CAF9"/>
                </a:solidFill>
                <a:latin typeface="Calibri"/>
                <a:ea typeface="Calibri"/>
                <a:cs typeface="Calibri"/>
                <a:sym typeface="Calibri"/>
              </a:rPr>
              <a:t>Grado en Ingeniería en Inteligencia Artificial · Universidad de Alicante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42A5F5"/>
          </a:solidFill>
          <a:ln cap="flat" cmpd="sng" w="12700">
            <a:solidFill>
              <a:srgbClr val="42A5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6BAE"/>
          </a:solidFill>
          <a:ln cap="flat" cmpd="sng" w="12700">
            <a:solidFill>
              <a:srgbClr val="1A6BA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2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Índice de Contenidos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365760" y="1051560"/>
            <a:ext cx="4114800" cy="1051560"/>
          </a:xfrm>
          <a:prstGeom prst="rect">
            <a:avLst/>
          </a:prstGeom>
          <a:solidFill>
            <a:srgbClr val="EEF4FF"/>
          </a:solidFill>
          <a:ln cap="flat" cmpd="sng" w="12700">
            <a:solidFill>
              <a:srgbClr val="BBDEFB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2"/>
          <p:cNvSpPr/>
          <p:nvPr/>
        </p:nvSpPr>
        <p:spPr>
          <a:xfrm>
            <a:off x="365760" y="1051560"/>
            <a:ext cx="457200" cy="1051560"/>
          </a:xfrm>
          <a:prstGeom prst="rect">
            <a:avLst/>
          </a:prstGeom>
          <a:solidFill>
            <a:srgbClr val="2196F3"/>
          </a:solidFill>
          <a:ln cap="flat" cmpd="sng" w="12700">
            <a:solidFill>
              <a:srgbClr val="2196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2"/>
          <p:cNvSpPr/>
          <p:nvPr/>
        </p:nvSpPr>
        <p:spPr>
          <a:xfrm>
            <a:off x="365760" y="1051560"/>
            <a:ext cx="45720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914400" y="1143000"/>
            <a:ext cx="3474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Introducción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914400" y="1554480"/>
            <a:ext cx="3474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909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8909C"/>
                </a:solidFill>
                <a:latin typeface="Calibri"/>
                <a:ea typeface="Calibri"/>
                <a:cs typeface="Calibri"/>
                <a:sym typeface="Calibri"/>
              </a:rPr>
              <a:t>Motivación, objetivos y problemática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365760" y="2286000"/>
            <a:ext cx="4114800" cy="1051560"/>
          </a:xfrm>
          <a:prstGeom prst="rect">
            <a:avLst/>
          </a:prstGeom>
          <a:solidFill>
            <a:srgbClr val="EEF4FF"/>
          </a:solidFill>
          <a:ln cap="flat" cmpd="sng" w="12700">
            <a:solidFill>
              <a:srgbClr val="BBDEFB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"/>
          <p:cNvSpPr/>
          <p:nvPr/>
        </p:nvSpPr>
        <p:spPr>
          <a:xfrm>
            <a:off x="365760" y="2286000"/>
            <a:ext cx="457200" cy="1051560"/>
          </a:xfrm>
          <a:prstGeom prst="rect">
            <a:avLst/>
          </a:prstGeom>
          <a:solidFill>
            <a:srgbClr val="2196F3"/>
          </a:solidFill>
          <a:ln cap="flat" cmpd="sng" w="12700">
            <a:solidFill>
              <a:srgbClr val="2196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365760" y="2286000"/>
            <a:ext cx="45720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914400" y="2377440"/>
            <a:ext cx="3474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Descripción del Problema y los Datos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914400" y="2788920"/>
            <a:ext cx="3474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909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8909C"/>
                </a:solidFill>
                <a:latin typeface="Calibri"/>
                <a:ea typeface="Calibri"/>
                <a:cs typeface="Calibri"/>
                <a:sym typeface="Calibri"/>
              </a:rPr>
              <a:t>Dataset, EDA y problemáticas identificadas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365760" y="3520440"/>
            <a:ext cx="4114800" cy="1051560"/>
          </a:xfrm>
          <a:prstGeom prst="rect">
            <a:avLst/>
          </a:prstGeom>
          <a:solidFill>
            <a:srgbClr val="EEF4FF"/>
          </a:solidFill>
          <a:ln cap="flat" cmpd="sng" w="12700">
            <a:solidFill>
              <a:srgbClr val="BBDEFB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365760" y="3520440"/>
            <a:ext cx="457200" cy="1051560"/>
          </a:xfrm>
          <a:prstGeom prst="rect">
            <a:avLst/>
          </a:prstGeom>
          <a:solidFill>
            <a:srgbClr val="2196F3"/>
          </a:solidFill>
          <a:ln cap="flat" cmpd="sng" w="12700">
            <a:solidFill>
              <a:srgbClr val="2196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2"/>
          <p:cNvSpPr/>
          <p:nvPr/>
        </p:nvSpPr>
        <p:spPr>
          <a:xfrm>
            <a:off x="365760" y="3520440"/>
            <a:ext cx="45720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914400" y="3611880"/>
            <a:ext cx="3474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Metodología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914400" y="4023360"/>
            <a:ext cx="3474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909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8909C"/>
                </a:solidFill>
                <a:latin typeface="Calibri"/>
                <a:ea typeface="Calibri"/>
                <a:cs typeface="Calibri"/>
                <a:sym typeface="Calibri"/>
              </a:rPr>
              <a:t>Preprocesamiento, modelos y técnicas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4754880" y="1051560"/>
            <a:ext cx="4114800" cy="1051560"/>
          </a:xfrm>
          <a:prstGeom prst="rect">
            <a:avLst/>
          </a:prstGeom>
          <a:solidFill>
            <a:srgbClr val="EEF4FF"/>
          </a:solidFill>
          <a:ln cap="flat" cmpd="sng" w="12700">
            <a:solidFill>
              <a:srgbClr val="BBDEFB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2"/>
          <p:cNvSpPr/>
          <p:nvPr/>
        </p:nvSpPr>
        <p:spPr>
          <a:xfrm>
            <a:off x="4754880" y="1051560"/>
            <a:ext cx="457200" cy="1051560"/>
          </a:xfrm>
          <a:prstGeom prst="rect">
            <a:avLst/>
          </a:prstGeom>
          <a:solidFill>
            <a:srgbClr val="2196F3"/>
          </a:solidFill>
          <a:ln cap="flat" cmpd="sng" w="12700">
            <a:solidFill>
              <a:srgbClr val="2196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"/>
          <p:cNvSpPr/>
          <p:nvPr/>
        </p:nvSpPr>
        <p:spPr>
          <a:xfrm>
            <a:off x="4754880" y="1051560"/>
            <a:ext cx="45720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5303520" y="1143000"/>
            <a:ext cx="3474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Experimentos y Resultados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5303520" y="1554480"/>
            <a:ext cx="3474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909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8909C"/>
                </a:solidFill>
                <a:latin typeface="Calibri"/>
                <a:ea typeface="Calibri"/>
                <a:cs typeface="Calibri"/>
                <a:sym typeface="Calibri"/>
              </a:rPr>
              <a:t>GridSearch, SHAP, privacidad y fairness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4754880" y="2286000"/>
            <a:ext cx="4114800" cy="1051560"/>
          </a:xfrm>
          <a:prstGeom prst="rect">
            <a:avLst/>
          </a:prstGeom>
          <a:solidFill>
            <a:srgbClr val="EEF4FF"/>
          </a:solidFill>
          <a:ln cap="flat" cmpd="sng" w="12700">
            <a:solidFill>
              <a:srgbClr val="BBDEFB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2"/>
          <p:cNvSpPr/>
          <p:nvPr/>
        </p:nvSpPr>
        <p:spPr>
          <a:xfrm>
            <a:off x="4754880" y="2286000"/>
            <a:ext cx="457200" cy="1051560"/>
          </a:xfrm>
          <a:prstGeom prst="rect">
            <a:avLst/>
          </a:prstGeom>
          <a:solidFill>
            <a:srgbClr val="2196F3"/>
          </a:solidFill>
          <a:ln cap="flat" cmpd="sng" w="12700">
            <a:solidFill>
              <a:srgbClr val="2196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2"/>
          <p:cNvSpPr/>
          <p:nvPr/>
        </p:nvSpPr>
        <p:spPr>
          <a:xfrm>
            <a:off x="4754880" y="2286000"/>
            <a:ext cx="45720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5303520" y="2377440"/>
            <a:ext cx="3474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Discusión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5303520" y="2788920"/>
            <a:ext cx="3474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909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8909C"/>
                </a:solidFill>
                <a:latin typeface="Calibri"/>
                <a:ea typeface="Calibri"/>
                <a:cs typeface="Calibri"/>
                <a:sym typeface="Calibri"/>
              </a:rPr>
              <a:t>Interpretación, limitaciones e implicaciones éticas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4754880" y="3520440"/>
            <a:ext cx="4114800" cy="1051560"/>
          </a:xfrm>
          <a:prstGeom prst="rect">
            <a:avLst/>
          </a:prstGeom>
          <a:solidFill>
            <a:srgbClr val="EEF4FF"/>
          </a:solidFill>
          <a:ln cap="flat" cmpd="sng" w="12700">
            <a:solidFill>
              <a:srgbClr val="BBDEFB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2"/>
          <p:cNvSpPr/>
          <p:nvPr/>
        </p:nvSpPr>
        <p:spPr>
          <a:xfrm>
            <a:off x="4754880" y="3520440"/>
            <a:ext cx="457200" cy="1051560"/>
          </a:xfrm>
          <a:prstGeom prst="rect">
            <a:avLst/>
          </a:prstGeom>
          <a:solidFill>
            <a:srgbClr val="2196F3"/>
          </a:solidFill>
          <a:ln cap="flat" cmpd="sng" w="12700">
            <a:solidFill>
              <a:srgbClr val="2196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2"/>
          <p:cNvSpPr/>
          <p:nvPr/>
        </p:nvSpPr>
        <p:spPr>
          <a:xfrm>
            <a:off x="4754880" y="3520440"/>
            <a:ext cx="45720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5303520" y="3611880"/>
            <a:ext cx="3474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Conclusiones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5303520" y="4023360"/>
            <a:ext cx="3474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909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8909C"/>
                </a:solidFill>
                <a:latin typeface="Calibri"/>
                <a:ea typeface="Calibri"/>
                <a:cs typeface="Calibri"/>
                <a:sym typeface="Calibri"/>
              </a:rPr>
              <a:t>Síntesis de resultados y aportaciones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A6BAE"/>
          </a:solidFill>
          <a:ln cap="flat" cmpd="sng" w="12700">
            <a:solidFill>
              <a:srgbClr val="1A6BA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3"/>
          <p:cNvSpPr/>
          <p:nvPr/>
        </p:nvSpPr>
        <p:spPr>
          <a:xfrm>
            <a:off x="365760" y="137160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Introducción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274320" y="1005840"/>
            <a:ext cx="2743200" cy="3200400"/>
          </a:xfrm>
          <a:prstGeom prst="rect">
            <a:avLst/>
          </a:prstGeom>
          <a:solidFill>
            <a:srgbClr val="EEF4FF"/>
          </a:solidFill>
          <a:ln cap="flat" cmpd="sng" w="12700">
            <a:solidFill>
              <a:srgbClr val="BBDEFB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3"/>
          <p:cNvSpPr/>
          <p:nvPr/>
        </p:nvSpPr>
        <p:spPr>
          <a:xfrm>
            <a:off x="274320" y="1005840"/>
            <a:ext cx="2743200" cy="548640"/>
          </a:xfrm>
          <a:prstGeom prst="rect">
            <a:avLst/>
          </a:prstGeom>
          <a:solidFill>
            <a:srgbClr val="1565C0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3"/>
          <p:cNvSpPr/>
          <p:nvPr/>
        </p:nvSpPr>
        <p:spPr>
          <a:xfrm>
            <a:off x="274320" y="1005840"/>
            <a:ext cx="2743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Privacidad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411480" y="1645920"/>
            <a:ext cx="2468880" cy="2468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Datos médicos sensibles regulados por RGPD (art. 9). No pueden centralizarse entre hospitales sin violar la normativa.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3154680" y="1005840"/>
            <a:ext cx="2743200" cy="3200400"/>
          </a:xfrm>
          <a:prstGeom prst="rect">
            <a:avLst/>
          </a:prstGeom>
          <a:solidFill>
            <a:srgbClr val="EEF4FF"/>
          </a:solidFill>
          <a:ln cap="flat" cmpd="sng" w="12700">
            <a:solidFill>
              <a:srgbClr val="BBDEFB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3"/>
          <p:cNvSpPr/>
          <p:nvPr/>
        </p:nvSpPr>
        <p:spPr>
          <a:xfrm>
            <a:off x="3154680" y="1005840"/>
            <a:ext cx="2743200" cy="548640"/>
          </a:xfrm>
          <a:prstGeom prst="rect">
            <a:avLst/>
          </a:prstGeom>
          <a:solidFill>
            <a:srgbClr val="2E7D32"/>
          </a:solidFill>
          <a:ln cap="flat" cmpd="sng" w="1270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3"/>
          <p:cNvSpPr/>
          <p:nvPr/>
        </p:nvSpPr>
        <p:spPr>
          <a:xfrm>
            <a:off x="3154680" y="1005840"/>
            <a:ext cx="2743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Equidad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3291840" y="1645920"/>
            <a:ext cx="2468880" cy="2468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Los modelos pueden agravar sesgos existentes. Riesgo de desigualdades en diagnóstico según sexo, edad u otros atributos sensibles.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6035040" y="1005840"/>
            <a:ext cx="2743200" cy="3200400"/>
          </a:xfrm>
          <a:prstGeom prst="rect">
            <a:avLst/>
          </a:prstGeom>
          <a:solidFill>
            <a:srgbClr val="EEF4FF"/>
          </a:solidFill>
          <a:ln cap="flat" cmpd="sng" w="12700">
            <a:solidFill>
              <a:srgbClr val="BBDEFB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3"/>
          <p:cNvSpPr/>
          <p:nvPr/>
        </p:nvSpPr>
        <p:spPr>
          <a:xfrm>
            <a:off x="6035040" y="1005840"/>
            <a:ext cx="2743200" cy="548640"/>
          </a:xfrm>
          <a:prstGeom prst="rect">
            <a:avLst/>
          </a:prstGeom>
          <a:solidFill>
            <a:srgbClr val="6A1B9A"/>
          </a:solidFill>
          <a:ln cap="flat" cmpd="sng" w="12700">
            <a:solidFill>
              <a:srgbClr val="6A1B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3"/>
          <p:cNvSpPr/>
          <p:nvPr/>
        </p:nvSpPr>
        <p:spPr>
          <a:xfrm>
            <a:off x="6035040" y="1005840"/>
            <a:ext cx="2743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Explicabilidad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6172200" y="1645920"/>
            <a:ext cx="2468880" cy="2468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Los sistemas de IA en salud son 'cajas negras'. El RGPD (art. 22) exige explicaciones comprensibles para decisiones automatizadas.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274320" y="4343400"/>
            <a:ext cx="8595360" cy="640080"/>
          </a:xfrm>
          <a:prstGeom prst="rect">
            <a:avLst/>
          </a:prstGeom>
          <a:solidFill>
            <a:srgbClr val="E3F2FD"/>
          </a:solidFill>
          <a:ln cap="flat" cmpd="sng" w="19050">
            <a:solidFill>
              <a:srgbClr val="2196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3"/>
          <p:cNvSpPr/>
          <p:nvPr/>
        </p:nvSpPr>
        <p:spPr>
          <a:xfrm>
            <a:off x="457200" y="4407408"/>
            <a:ext cx="822960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 Objetivo: Sistema de predicción cardíaca sobre UCI Heart Disease Dataset integrando aprendizaje federado, SMOTETomek y SHAP, con evaluación de equidad por sexo y edad.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565C0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4"/>
          <p:cNvSpPr/>
          <p:nvPr/>
        </p:nvSpPr>
        <p:spPr>
          <a:xfrm>
            <a:off x="365760" y="137160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3. Descripción del Problema y los Datos — Dataset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274320" y="960120"/>
            <a:ext cx="8595360" cy="457200"/>
          </a:xfrm>
          <a:prstGeom prst="rect">
            <a:avLst/>
          </a:prstGeom>
          <a:solidFill>
            <a:srgbClr val="E8EAF6"/>
          </a:solidFill>
          <a:ln cap="flat" cmpd="sng" w="12700">
            <a:solidFill>
              <a:srgbClr val="3949A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4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Tarea: Clasificación binaria supervisada — f: ℝ¹³ → {0,1}   |   yi = 0 (sano) si num=0  /  yi = 1 (enfermedad) si num &gt; 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91" name="Google Shape;91;p4"/>
          <p:cNvGraphicFramePr/>
          <p:nvPr/>
        </p:nvGraphicFramePr>
        <p:xfrm>
          <a:off x="274320" y="15087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{9BA20E25-5E9B-401E-AE2F-8BE1551E54DC}</a:tableStyleId>
              </a:tblPr>
              <a:tblGrid>
                <a:gridCol w="1828800"/>
                <a:gridCol w="3383275"/>
              </a:tblGrid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Característica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BBDE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BDE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BDE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BDE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6BA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Valor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BBDE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BDE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BDE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BDE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6BAE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Fuente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BBDE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BDE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BDE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BDE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UCI Machine Learning Repository, id=45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BBDE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BDE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BDE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BDE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BF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Instancias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BBDE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BDE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BDE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BDE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303 (297 tras eliminar nulos)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BBDE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BDE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BDE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BDE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BF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Features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BBDE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BDE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BDE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BDE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 variables clínicas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BBDE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BDE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BDE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BDE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BF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Variable objetivo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BBDE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BDE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BDE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BDE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num binarizada: 0 (sano) / 1 (enfermedad)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BBDE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BDE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BDE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BDE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BF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Distribución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BBDE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BDE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BDE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BDE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53,87 % clase 0 / 46,13 % clase 1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BBDE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BDE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BDE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BDE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BF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Valores ausentes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BBDE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BDE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BDE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BDE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 (4 nulos) y thal (2 nulos) — eliminados con dropna()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BBDE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BDE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BDE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BDE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BF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Licencia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BBDE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BDE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BDE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BDE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CC BY 4.0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BBDE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BDE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BDE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BDE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BFF"/>
                    </a:solidFill>
                  </a:tcPr>
                </a:tc>
              </a:tr>
            </a:tbl>
          </a:graphicData>
        </a:graphic>
      </p:graphicFrame>
      <p:sp>
        <p:nvSpPr>
          <p:cNvPr id="92" name="Google Shape;92;p4"/>
          <p:cNvSpPr/>
          <p:nvPr/>
        </p:nvSpPr>
        <p:spPr>
          <a:xfrm>
            <a:off x="5669280" y="1508760"/>
            <a:ext cx="3200400" cy="1463040"/>
          </a:xfrm>
          <a:prstGeom prst="rect">
            <a:avLst/>
          </a:prstGeom>
          <a:solidFill>
            <a:srgbClr val="E3F2FD"/>
          </a:solidFill>
          <a:ln cap="flat" cmpd="sng" w="12700">
            <a:solidFill>
              <a:srgbClr val="BBDE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4"/>
          <p:cNvSpPr/>
          <p:nvPr/>
        </p:nvSpPr>
        <p:spPr>
          <a:xfrm>
            <a:off x="5760720" y="1572768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Variables numéricas continuas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5760725" y="1874533"/>
            <a:ext cx="3017400" cy="104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984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Char char="❏"/>
            </a:pPr>
            <a:r>
              <a:rPr b="0" i="1" lang="en-US" sz="11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age</a:t>
            </a:r>
            <a:r>
              <a:rPr i="1" lang="en-US" sz="11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-&gt; edad</a:t>
            </a:r>
            <a:endParaRPr i="1" sz="11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Char char="❏"/>
            </a:pPr>
            <a:r>
              <a:rPr b="0" i="1" lang="en-US" sz="11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trestbps,</a:t>
            </a:r>
            <a:r>
              <a:rPr i="1" lang="en-US" sz="11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-&gt; presión arterial en reposo</a:t>
            </a:r>
            <a:endParaRPr b="0" i="1" sz="1100" u="none" cap="none" strike="noStrike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Char char="❏"/>
            </a:pPr>
            <a:r>
              <a:rPr b="0" i="1" lang="en-US" sz="11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chol</a:t>
            </a:r>
            <a:r>
              <a:rPr i="1" lang="en-US" sz="11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-&gt; colesterol</a:t>
            </a:r>
            <a:endParaRPr b="0" i="1" sz="1100" u="none" cap="none" strike="noStrike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Char char="❏"/>
            </a:pPr>
            <a:r>
              <a:rPr b="0" i="1" lang="en-US" sz="11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thalach</a:t>
            </a:r>
            <a:r>
              <a:rPr i="1" lang="en-US" sz="11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-&gt; frecuencia cardiaca máxima</a:t>
            </a:r>
            <a:endParaRPr b="0" i="1" sz="1100" u="none" cap="none" strike="noStrike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Char char="❏"/>
            </a:pPr>
            <a:r>
              <a:rPr b="0" i="1" lang="en-US" sz="11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oldpeak</a:t>
            </a:r>
            <a:r>
              <a:rPr i="1" lang="en-US" sz="11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-&gt; </a:t>
            </a:r>
            <a:r>
              <a:rPr i="1" lang="en-US" sz="11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depresión del segmento ST</a:t>
            </a:r>
            <a:endParaRPr b="0" i="1" sz="1100" u="none" cap="none" strike="noStrike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Char char="❏"/>
            </a:pPr>
            <a:r>
              <a:rPr b="0" i="1" lang="en-US" sz="11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ca -&gt; n</a:t>
            </a:r>
            <a:r>
              <a:rPr i="1" lang="en-US" sz="11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úmero de vasos principales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5669275" y="3063252"/>
            <a:ext cx="3200400" cy="1518000"/>
          </a:xfrm>
          <a:prstGeom prst="rect">
            <a:avLst/>
          </a:prstGeom>
          <a:solidFill>
            <a:srgbClr val="F3E5F5"/>
          </a:solidFill>
          <a:ln cap="flat" cmpd="sng" w="12700">
            <a:solidFill>
              <a:srgbClr val="CE93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4"/>
          <p:cNvSpPr/>
          <p:nvPr/>
        </p:nvSpPr>
        <p:spPr>
          <a:xfrm>
            <a:off x="5760720" y="3127248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1B9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A1B9A"/>
                </a:solidFill>
                <a:latin typeface="Calibri"/>
                <a:ea typeface="Calibri"/>
                <a:cs typeface="Calibri"/>
                <a:sym typeface="Calibri"/>
              </a:rPr>
              <a:t>Variables categóricas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5760725" y="3429000"/>
            <a:ext cx="3017400" cy="109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984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Char char="❏"/>
            </a:pPr>
            <a:r>
              <a:rPr b="0" i="1" lang="en-US" sz="11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sex -&gt; sexo</a:t>
            </a:r>
            <a:endParaRPr i="1" sz="11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Char char="❏"/>
            </a:pPr>
            <a:r>
              <a:rPr b="0" i="1" lang="en-US" sz="11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cp</a:t>
            </a:r>
            <a:r>
              <a:rPr i="1" lang="en-US" sz="11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-&gt; tipo dolor torácico</a:t>
            </a:r>
            <a:endParaRPr i="1" sz="11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Char char="❏"/>
            </a:pPr>
            <a:r>
              <a:rPr b="0" i="1" lang="en-US" sz="11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fbs -&gt; glu</a:t>
            </a:r>
            <a:r>
              <a:rPr i="1" lang="en-US" sz="11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cemia en ayunas</a:t>
            </a:r>
            <a:endParaRPr i="1" sz="11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Char char="❏"/>
            </a:pPr>
            <a:r>
              <a:rPr b="0" i="1" lang="en-US" sz="11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restecg -&gt; resultado del ECG en reposo</a:t>
            </a:r>
            <a:endParaRPr i="1" sz="11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Char char="❏"/>
            </a:pPr>
            <a:r>
              <a:rPr b="0" i="1" lang="en-US" sz="11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exang -&gt; angina inducida por ejercicio</a:t>
            </a:r>
            <a:endParaRPr i="1" sz="11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Char char="❏"/>
            </a:pPr>
            <a:r>
              <a:rPr b="0" i="1" lang="en-US" sz="11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slope -&gt; pend</a:t>
            </a:r>
            <a:r>
              <a:rPr i="1" lang="en-US" sz="11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iente del segmento ST</a:t>
            </a:r>
            <a:endParaRPr i="1" sz="11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Char char="❏"/>
            </a:pPr>
            <a:r>
              <a:rPr i="1" lang="en-US" sz="11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0" i="1" lang="en-US" sz="11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hal -&gt; resultado de la pr</a:t>
            </a:r>
            <a:r>
              <a:rPr i="1" lang="en-US" sz="11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ueba de talio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5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565C0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5"/>
          <p:cNvSpPr/>
          <p:nvPr/>
        </p:nvSpPr>
        <p:spPr>
          <a:xfrm>
            <a:off x="365760" y="109728"/>
            <a:ext cx="84124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3. EDA — Distribución y Variables Numéricas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182880" y="868680"/>
            <a:ext cx="3840480" cy="2926080"/>
          </a:xfrm>
          <a:prstGeom prst="rect">
            <a:avLst/>
          </a:prstGeom>
          <a:solidFill>
            <a:srgbClr val="EEF4FF"/>
          </a:solidFill>
          <a:ln cap="flat" cmpd="sng" w="12700">
            <a:solidFill>
              <a:srgbClr val="BBDE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"/>
          <p:cNvSpPr/>
          <p:nvPr/>
        </p:nvSpPr>
        <p:spPr>
          <a:xfrm>
            <a:off x="274320" y="886968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Fig. 1 — Distribución de la variable objetivo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7" name="Google Shape;10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1207008"/>
            <a:ext cx="3474720" cy="242316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5"/>
          <p:cNvSpPr/>
          <p:nvPr/>
        </p:nvSpPr>
        <p:spPr>
          <a:xfrm>
            <a:off x="182880" y="3858768"/>
            <a:ext cx="3840480" cy="822960"/>
          </a:xfrm>
          <a:prstGeom prst="rect">
            <a:avLst/>
          </a:prstGeom>
          <a:solidFill>
            <a:srgbClr val="E8F5E9"/>
          </a:solidFill>
          <a:ln cap="flat" cmpd="sng" w="12700">
            <a:solidFill>
              <a:srgbClr val="A5D6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5"/>
          <p:cNvSpPr/>
          <p:nvPr/>
        </p:nvSpPr>
        <p:spPr>
          <a:xfrm>
            <a:off x="320040" y="3913632"/>
            <a:ext cx="356616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🔵 Clase 0 (Sano): 160 muestras (53,87%)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🔴 Clase 1 (Enfermedad): 137 muestras (46,13%)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Desbalance moderado — puede penalizar el Recall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5"/>
          <p:cNvSpPr/>
          <p:nvPr/>
        </p:nvSpPr>
        <p:spPr>
          <a:xfrm>
            <a:off x="4206240" y="868680"/>
            <a:ext cx="4754880" cy="2926080"/>
          </a:xfrm>
          <a:prstGeom prst="rect">
            <a:avLst/>
          </a:prstGeom>
          <a:solidFill>
            <a:srgbClr val="EEF4FF"/>
          </a:solidFill>
          <a:ln cap="flat" cmpd="sng" w="12700">
            <a:solidFill>
              <a:srgbClr val="BBDE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5"/>
          <p:cNvSpPr/>
          <p:nvPr/>
        </p:nvSpPr>
        <p:spPr>
          <a:xfrm>
            <a:off x="4297680" y="886968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Fig. 2 — Distribución de variables numéricas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2" name="Google Shape;112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97680" y="1207008"/>
            <a:ext cx="4572000" cy="242316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5"/>
          <p:cNvSpPr/>
          <p:nvPr/>
        </p:nvSpPr>
        <p:spPr>
          <a:xfrm>
            <a:off x="4206240" y="3858768"/>
            <a:ext cx="4754880" cy="822960"/>
          </a:xfrm>
          <a:prstGeom prst="rect">
            <a:avLst/>
          </a:prstGeom>
          <a:solidFill>
            <a:srgbClr val="FFF8E1"/>
          </a:solidFill>
          <a:ln cap="flat" cmpd="sng" w="12700">
            <a:solidFill>
              <a:srgbClr val="FFD5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5"/>
          <p:cNvSpPr/>
          <p:nvPr/>
        </p:nvSpPr>
        <p:spPr>
          <a:xfrm>
            <a:off x="4343400" y="3913632"/>
            <a:ext cx="448056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age: distribución bimodal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trestbps y chol: normales con cola derecha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oldpeak: asimetría positiva, outliers ~ 6 · ca: discreta (0–3)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565C0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6"/>
          <p:cNvSpPr/>
          <p:nvPr/>
        </p:nvSpPr>
        <p:spPr>
          <a:xfrm>
            <a:off x="365760" y="109728"/>
            <a:ext cx="84124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3. EDA — Boxplots y Valores Atípicos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182880" y="868680"/>
            <a:ext cx="5486400" cy="3520440"/>
          </a:xfrm>
          <a:prstGeom prst="rect">
            <a:avLst/>
          </a:prstGeom>
          <a:solidFill>
            <a:srgbClr val="EEF4FF"/>
          </a:solidFill>
          <a:ln cap="flat" cmpd="sng" w="12700">
            <a:solidFill>
              <a:srgbClr val="BBDE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6"/>
          <p:cNvSpPr/>
          <p:nvPr/>
        </p:nvSpPr>
        <p:spPr>
          <a:xfrm>
            <a:off x="320040" y="886968"/>
            <a:ext cx="5303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Fig. 3 — Boxplots de variables numéricas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4" name="Google Shape;12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1234440"/>
            <a:ext cx="5394960" cy="306324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6"/>
          <p:cNvSpPr/>
          <p:nvPr/>
        </p:nvSpPr>
        <p:spPr>
          <a:xfrm>
            <a:off x="5852160" y="914400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Outliers relevantes: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6"/>
          <p:cNvSpPr/>
          <p:nvPr/>
        </p:nvSpPr>
        <p:spPr>
          <a:xfrm>
            <a:off x="5852160" y="1325880"/>
            <a:ext cx="3017520" cy="731520"/>
          </a:xfrm>
          <a:prstGeom prst="rect">
            <a:avLst/>
          </a:prstGeom>
          <a:solidFill>
            <a:srgbClr val="FFF3E0"/>
          </a:solidFill>
          <a:ln cap="flat" cmpd="sng" w="12700">
            <a:solidFill>
              <a:srgbClr val="FFCC0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6"/>
          <p:cNvSpPr/>
          <p:nvPr/>
        </p:nvSpPr>
        <p:spPr>
          <a:xfrm>
            <a:off x="5989320" y="13716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510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65100"/>
                </a:solidFill>
                <a:latin typeface="Calibri"/>
                <a:ea typeface="Calibri"/>
                <a:cs typeface="Calibri"/>
                <a:sym typeface="Calibri"/>
              </a:rPr>
              <a:t>chol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5989320" y="1627632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máx 564 mg/dl  ·  p75: 275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5852160" y="2194560"/>
            <a:ext cx="3017520" cy="731520"/>
          </a:xfrm>
          <a:prstGeom prst="rect">
            <a:avLst/>
          </a:prstGeom>
          <a:solidFill>
            <a:srgbClr val="FFF3E0"/>
          </a:solidFill>
          <a:ln cap="flat" cmpd="sng" w="12700">
            <a:solidFill>
              <a:srgbClr val="FFCC0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6"/>
          <p:cNvSpPr/>
          <p:nvPr/>
        </p:nvSpPr>
        <p:spPr>
          <a:xfrm>
            <a:off x="5989320" y="224028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510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65100"/>
                </a:solidFill>
                <a:latin typeface="Calibri"/>
                <a:ea typeface="Calibri"/>
                <a:cs typeface="Calibri"/>
                <a:sym typeface="Calibri"/>
              </a:rPr>
              <a:t>trestbps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6"/>
          <p:cNvSpPr/>
          <p:nvPr/>
        </p:nvSpPr>
        <p:spPr>
          <a:xfrm>
            <a:off x="5989320" y="2496312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máx 200 mmHg  ·  p75: 140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5852160" y="3063240"/>
            <a:ext cx="3017520" cy="731520"/>
          </a:xfrm>
          <a:prstGeom prst="rect">
            <a:avLst/>
          </a:prstGeom>
          <a:solidFill>
            <a:srgbClr val="FFF3E0"/>
          </a:solidFill>
          <a:ln cap="flat" cmpd="sng" w="12700">
            <a:solidFill>
              <a:srgbClr val="FFCC0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6"/>
          <p:cNvSpPr/>
          <p:nvPr/>
        </p:nvSpPr>
        <p:spPr>
          <a:xfrm>
            <a:off x="5989320" y="310896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510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65100"/>
                </a:solidFill>
                <a:latin typeface="Calibri"/>
                <a:ea typeface="Calibri"/>
                <a:cs typeface="Calibri"/>
                <a:sym typeface="Calibri"/>
              </a:rPr>
              <a:t>oldpeak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6"/>
          <p:cNvSpPr/>
          <p:nvPr/>
        </p:nvSpPr>
        <p:spPr>
          <a:xfrm>
            <a:off x="5989320" y="3364992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máx 6,2  ·  p75: 1,6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6"/>
          <p:cNvSpPr/>
          <p:nvPr/>
        </p:nvSpPr>
        <p:spPr>
          <a:xfrm>
            <a:off x="5852160" y="4023360"/>
            <a:ext cx="3017520" cy="640080"/>
          </a:xfrm>
          <a:prstGeom prst="rect">
            <a:avLst/>
          </a:prstGeom>
          <a:solidFill>
            <a:srgbClr val="E3F2FD"/>
          </a:solidFill>
          <a:ln cap="flat" cmpd="sng" w="12700">
            <a:solidFill>
              <a:srgbClr val="2196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6"/>
          <p:cNvSpPr/>
          <p:nvPr/>
        </p:nvSpPr>
        <p:spPr>
          <a:xfrm>
            <a:off x="5943600" y="4059936"/>
            <a:ext cx="2834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→ Justifica imputación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   con la mediana (robusta ante outliers)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7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565C0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7"/>
          <p:cNvSpPr/>
          <p:nvPr/>
        </p:nvSpPr>
        <p:spPr>
          <a:xfrm>
            <a:off x="365760" y="109728"/>
            <a:ext cx="84124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3. EDA — Matriz de Correlación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182880" y="868680"/>
            <a:ext cx="5303520" cy="4206240"/>
          </a:xfrm>
          <a:prstGeom prst="rect">
            <a:avLst/>
          </a:prstGeom>
          <a:solidFill>
            <a:srgbClr val="EEF4FF"/>
          </a:solidFill>
          <a:ln cap="flat" cmpd="sng" w="12700">
            <a:solidFill>
              <a:srgbClr val="BBDE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7"/>
          <p:cNvSpPr/>
          <p:nvPr/>
        </p:nvSpPr>
        <p:spPr>
          <a:xfrm>
            <a:off x="320040" y="886968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Fig. 4 — Matriz de correlación de Pearson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6" name="Google Shape;14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1234440"/>
            <a:ext cx="5212080" cy="374904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7"/>
          <p:cNvSpPr/>
          <p:nvPr/>
        </p:nvSpPr>
        <p:spPr>
          <a:xfrm>
            <a:off x="5669280" y="914400"/>
            <a:ext cx="3291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Variables más correlacionadas con num: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5669280" y="1325880"/>
            <a:ext cx="3200400" cy="475488"/>
          </a:xfrm>
          <a:prstGeom prst="rect">
            <a:avLst/>
          </a:prstGeom>
          <a:solidFill>
            <a:srgbClr val="FAFAFA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7"/>
          <p:cNvSpPr/>
          <p:nvPr/>
        </p:nvSpPr>
        <p:spPr>
          <a:xfrm>
            <a:off x="5669280" y="1325880"/>
            <a:ext cx="73152" cy="475488"/>
          </a:xfrm>
          <a:prstGeom prst="rect">
            <a:avLst/>
          </a:prstGeom>
          <a:solidFill>
            <a:srgbClr val="C62828"/>
          </a:solidFill>
          <a:ln cap="flat" cmpd="sng" w="12700">
            <a:solidFill>
              <a:srgbClr val="C628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7"/>
          <p:cNvSpPr/>
          <p:nvPr/>
        </p:nvSpPr>
        <p:spPr>
          <a:xfrm>
            <a:off x="5806440" y="1371600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7315200" y="137160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6282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62828"/>
                </a:solidFill>
                <a:latin typeface="Calibri"/>
                <a:ea typeface="Calibri"/>
                <a:cs typeface="Calibri"/>
                <a:sym typeface="Calibri"/>
              </a:rPr>
              <a:t>r = +0,52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5669280" y="1874520"/>
            <a:ext cx="3200400" cy="475488"/>
          </a:xfrm>
          <a:prstGeom prst="rect">
            <a:avLst/>
          </a:prstGeom>
          <a:solidFill>
            <a:srgbClr val="FAFAFA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7"/>
          <p:cNvSpPr/>
          <p:nvPr/>
        </p:nvSpPr>
        <p:spPr>
          <a:xfrm>
            <a:off x="5669280" y="1874520"/>
            <a:ext cx="73152" cy="475488"/>
          </a:xfrm>
          <a:prstGeom prst="rect">
            <a:avLst/>
          </a:prstGeom>
          <a:solidFill>
            <a:srgbClr val="C62828"/>
          </a:solidFill>
          <a:ln cap="flat" cmpd="sng" w="12700">
            <a:solidFill>
              <a:srgbClr val="C628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7"/>
          <p:cNvSpPr/>
          <p:nvPr/>
        </p:nvSpPr>
        <p:spPr>
          <a:xfrm>
            <a:off x="5806440" y="1920240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thal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7"/>
          <p:cNvSpPr/>
          <p:nvPr/>
        </p:nvSpPr>
        <p:spPr>
          <a:xfrm>
            <a:off x="7315200" y="192024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6282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62828"/>
                </a:solidFill>
                <a:latin typeface="Calibri"/>
                <a:ea typeface="Calibri"/>
                <a:cs typeface="Calibri"/>
                <a:sym typeface="Calibri"/>
              </a:rPr>
              <a:t>r = +0,51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7"/>
          <p:cNvSpPr/>
          <p:nvPr/>
        </p:nvSpPr>
        <p:spPr>
          <a:xfrm>
            <a:off x="5669280" y="2423160"/>
            <a:ext cx="3200400" cy="475488"/>
          </a:xfrm>
          <a:prstGeom prst="rect">
            <a:avLst/>
          </a:prstGeom>
          <a:solidFill>
            <a:srgbClr val="FAFAFA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7"/>
          <p:cNvSpPr/>
          <p:nvPr/>
        </p:nvSpPr>
        <p:spPr>
          <a:xfrm>
            <a:off x="5669280" y="2423160"/>
            <a:ext cx="73152" cy="475488"/>
          </a:xfrm>
          <a:prstGeom prst="rect">
            <a:avLst/>
          </a:prstGeom>
          <a:solidFill>
            <a:srgbClr val="C62828"/>
          </a:solidFill>
          <a:ln cap="flat" cmpd="sng" w="12700">
            <a:solidFill>
              <a:srgbClr val="C628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7"/>
          <p:cNvSpPr/>
          <p:nvPr/>
        </p:nvSpPr>
        <p:spPr>
          <a:xfrm>
            <a:off x="5806440" y="2468880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oldpeak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7"/>
          <p:cNvSpPr/>
          <p:nvPr/>
        </p:nvSpPr>
        <p:spPr>
          <a:xfrm>
            <a:off x="7315200" y="246888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6282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62828"/>
                </a:solidFill>
                <a:latin typeface="Calibri"/>
                <a:ea typeface="Calibri"/>
                <a:cs typeface="Calibri"/>
                <a:sym typeface="Calibri"/>
              </a:rPr>
              <a:t>r = +0,50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5669280" y="2971800"/>
            <a:ext cx="3200400" cy="475488"/>
          </a:xfrm>
          <a:prstGeom prst="rect">
            <a:avLst/>
          </a:prstGeom>
          <a:solidFill>
            <a:srgbClr val="FAFAFA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7"/>
          <p:cNvSpPr/>
          <p:nvPr/>
        </p:nvSpPr>
        <p:spPr>
          <a:xfrm>
            <a:off x="5669280" y="2971800"/>
            <a:ext cx="73152" cy="475488"/>
          </a:xfrm>
          <a:prstGeom prst="rect">
            <a:avLst/>
          </a:prstGeom>
          <a:solidFill>
            <a:srgbClr val="E65100"/>
          </a:solidFill>
          <a:ln cap="flat" cmpd="sng" w="12700">
            <a:solidFill>
              <a:srgbClr val="E651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7"/>
          <p:cNvSpPr/>
          <p:nvPr/>
        </p:nvSpPr>
        <p:spPr>
          <a:xfrm>
            <a:off x="5806440" y="3017520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7315200" y="301752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6510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65100"/>
                </a:solidFill>
                <a:latin typeface="Calibri"/>
                <a:ea typeface="Calibri"/>
                <a:cs typeface="Calibri"/>
                <a:sym typeface="Calibri"/>
              </a:rPr>
              <a:t>r = +0,40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7"/>
          <p:cNvSpPr/>
          <p:nvPr/>
        </p:nvSpPr>
        <p:spPr>
          <a:xfrm>
            <a:off x="5669280" y="3520440"/>
            <a:ext cx="3200400" cy="475488"/>
          </a:xfrm>
          <a:prstGeom prst="rect">
            <a:avLst/>
          </a:prstGeom>
          <a:solidFill>
            <a:srgbClr val="FAFAFA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7"/>
          <p:cNvSpPr/>
          <p:nvPr/>
        </p:nvSpPr>
        <p:spPr>
          <a:xfrm>
            <a:off x="5669280" y="3520440"/>
            <a:ext cx="73152" cy="475488"/>
          </a:xfrm>
          <a:prstGeom prst="rect">
            <a:avLst/>
          </a:prstGeom>
          <a:solidFill>
            <a:srgbClr val="E65100"/>
          </a:solidFill>
          <a:ln cap="flat" cmpd="sng" w="12700">
            <a:solidFill>
              <a:srgbClr val="E651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7"/>
          <p:cNvSpPr/>
          <p:nvPr/>
        </p:nvSpPr>
        <p:spPr>
          <a:xfrm>
            <a:off x="5806440" y="3566160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exang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7"/>
          <p:cNvSpPr/>
          <p:nvPr/>
        </p:nvSpPr>
        <p:spPr>
          <a:xfrm>
            <a:off x="7315200" y="356616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6510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65100"/>
                </a:solidFill>
                <a:latin typeface="Calibri"/>
                <a:ea typeface="Calibri"/>
                <a:cs typeface="Calibri"/>
                <a:sym typeface="Calibri"/>
              </a:rPr>
              <a:t>r = +0,39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7"/>
          <p:cNvSpPr/>
          <p:nvPr/>
        </p:nvSpPr>
        <p:spPr>
          <a:xfrm>
            <a:off x="5669280" y="4069080"/>
            <a:ext cx="3200400" cy="475488"/>
          </a:xfrm>
          <a:prstGeom prst="rect">
            <a:avLst/>
          </a:prstGeom>
          <a:solidFill>
            <a:srgbClr val="FAFAFA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7"/>
          <p:cNvSpPr/>
          <p:nvPr/>
        </p:nvSpPr>
        <p:spPr>
          <a:xfrm>
            <a:off x="5669280" y="4069080"/>
            <a:ext cx="73152" cy="475488"/>
          </a:xfrm>
          <a:prstGeom prst="rect">
            <a:avLst/>
          </a:prstGeom>
          <a:solidFill>
            <a:srgbClr val="1565C0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7"/>
          <p:cNvSpPr/>
          <p:nvPr/>
        </p:nvSpPr>
        <p:spPr>
          <a:xfrm>
            <a:off x="5806440" y="4114800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thalach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7"/>
          <p:cNvSpPr/>
          <p:nvPr/>
        </p:nvSpPr>
        <p:spPr>
          <a:xfrm>
            <a:off x="7315200" y="411480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r = −0,42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7"/>
          <p:cNvSpPr/>
          <p:nvPr/>
        </p:nvSpPr>
        <p:spPr>
          <a:xfrm>
            <a:off x="5669280" y="4645152"/>
            <a:ext cx="3200400" cy="384048"/>
          </a:xfrm>
          <a:prstGeom prst="rect">
            <a:avLst/>
          </a:prstGeom>
          <a:solidFill>
            <a:srgbClr val="E8F5E9"/>
          </a:solidFill>
          <a:ln cap="flat" cmpd="sng" w="12700">
            <a:solidFill>
              <a:srgbClr val="66BB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7"/>
          <p:cNvSpPr/>
          <p:nvPr/>
        </p:nvSpPr>
        <p:spPr>
          <a:xfrm>
            <a:off x="5760720" y="4681728"/>
            <a:ext cx="30175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chol y fbs: correlación casi nula (r &lt; 0,07)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8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565C0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8"/>
          <p:cNvSpPr/>
          <p:nvPr/>
        </p:nvSpPr>
        <p:spPr>
          <a:xfrm>
            <a:off x="365760" y="109728"/>
            <a:ext cx="84124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3. Problemáticas Identificadas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8"/>
          <p:cNvSpPr/>
          <p:nvPr/>
        </p:nvSpPr>
        <p:spPr>
          <a:xfrm>
            <a:off x="274320" y="914400"/>
            <a:ext cx="8595360" cy="1261872"/>
          </a:xfrm>
          <a:prstGeom prst="rect">
            <a:avLst/>
          </a:prstGeom>
          <a:solidFill>
            <a:srgbClr val="E8EAF6"/>
          </a:solidFill>
          <a:ln cap="flat" cmpd="sng" w="12700">
            <a:solidFill>
              <a:srgbClr val="1A23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8"/>
          <p:cNvSpPr/>
          <p:nvPr/>
        </p:nvSpPr>
        <p:spPr>
          <a:xfrm>
            <a:off x="274320" y="914400"/>
            <a:ext cx="73152" cy="1261872"/>
          </a:xfrm>
          <a:prstGeom prst="rect">
            <a:avLst/>
          </a:prstGeom>
          <a:solidFill>
            <a:srgbClr val="1A237E"/>
          </a:solidFill>
          <a:ln cap="flat" cmpd="sng" w="12700">
            <a:solidFill>
              <a:srgbClr val="1A23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8"/>
          <p:cNvSpPr/>
          <p:nvPr/>
        </p:nvSpPr>
        <p:spPr>
          <a:xfrm>
            <a:off x="502920" y="987552"/>
            <a:ext cx="8138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Privacidad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8"/>
          <p:cNvSpPr/>
          <p:nvPr/>
        </p:nvSpPr>
        <p:spPr>
          <a:xfrm>
            <a:off x="548640" y="1298448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Datos de múltiples hospitales → centralización imposible bajo RGPD (art. 9) y AI Act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8"/>
          <p:cNvSpPr/>
          <p:nvPr/>
        </p:nvSpPr>
        <p:spPr>
          <a:xfrm>
            <a:off x="548640" y="1572768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El AI Act clasifica estos sistemas como de ALTO RIESGO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8"/>
          <p:cNvSpPr/>
          <p:nvPr/>
        </p:nvSpPr>
        <p:spPr>
          <a:xfrm>
            <a:off x="548640" y="1847088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Solución propuesta: Aprendizaje Federado — cada cliente entrena localmente sin exponer datos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8"/>
          <p:cNvSpPr/>
          <p:nvPr/>
        </p:nvSpPr>
        <p:spPr>
          <a:xfrm>
            <a:off x="274320" y="2286000"/>
            <a:ext cx="8595360" cy="1261872"/>
          </a:xfrm>
          <a:prstGeom prst="rect">
            <a:avLst/>
          </a:prstGeom>
          <a:solidFill>
            <a:srgbClr val="E8F5E9"/>
          </a:solidFill>
          <a:ln cap="flat" cmpd="sng" w="12700">
            <a:solidFill>
              <a:srgbClr val="1B5E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8"/>
          <p:cNvSpPr/>
          <p:nvPr/>
        </p:nvSpPr>
        <p:spPr>
          <a:xfrm>
            <a:off x="274320" y="2286000"/>
            <a:ext cx="73152" cy="1261872"/>
          </a:xfrm>
          <a:prstGeom prst="rect">
            <a:avLst/>
          </a:prstGeom>
          <a:solidFill>
            <a:srgbClr val="1B5E20"/>
          </a:solidFill>
          <a:ln cap="flat" cmpd="sng" w="12700">
            <a:solidFill>
              <a:srgbClr val="1B5E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8"/>
          <p:cNvSpPr/>
          <p:nvPr/>
        </p:nvSpPr>
        <p:spPr>
          <a:xfrm>
            <a:off x="502920" y="2359152"/>
            <a:ext cx="8138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5E2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5E20"/>
                </a:solidFill>
                <a:latin typeface="Calibri"/>
                <a:ea typeface="Calibri"/>
                <a:cs typeface="Calibri"/>
                <a:sym typeface="Calibri"/>
              </a:rPr>
              <a:t>Escasez de Datos y Desbalance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8"/>
          <p:cNvSpPr/>
          <p:nvPr/>
        </p:nvSpPr>
        <p:spPr>
          <a:xfrm>
            <a:off x="548640" y="2670048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Solo 297 instancias → alto riesgo de sobreajuste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8"/>
          <p:cNvSpPr/>
          <p:nvPr/>
        </p:nvSpPr>
        <p:spPr>
          <a:xfrm>
            <a:off x="548640" y="2944368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Desbalance 53,87% / 46,13% — moderado pero relevante clínicamente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8"/>
          <p:cNvSpPr/>
          <p:nvPr/>
        </p:nvSpPr>
        <p:spPr>
          <a:xfrm>
            <a:off x="548640" y="3218688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Falso negativo (clasificar enfermo como sano) tiene consecuencias graves → priorizar Recall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8"/>
          <p:cNvSpPr/>
          <p:nvPr/>
        </p:nvSpPr>
        <p:spPr>
          <a:xfrm>
            <a:off x="274320" y="3657600"/>
            <a:ext cx="8595360" cy="1261872"/>
          </a:xfrm>
          <a:prstGeom prst="rect">
            <a:avLst/>
          </a:prstGeom>
          <a:solidFill>
            <a:srgbClr val="F3E5F5"/>
          </a:solidFill>
          <a:ln cap="flat" cmpd="sng" w="12700">
            <a:solidFill>
              <a:srgbClr val="4A14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8"/>
          <p:cNvSpPr/>
          <p:nvPr/>
        </p:nvSpPr>
        <p:spPr>
          <a:xfrm>
            <a:off x="274320" y="3657600"/>
            <a:ext cx="73152" cy="1261872"/>
          </a:xfrm>
          <a:prstGeom prst="rect">
            <a:avLst/>
          </a:prstGeom>
          <a:solidFill>
            <a:srgbClr val="4A148C"/>
          </a:solidFill>
          <a:ln cap="flat" cmpd="sng" w="12700">
            <a:solidFill>
              <a:srgbClr val="4A14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8"/>
          <p:cNvSpPr/>
          <p:nvPr/>
        </p:nvSpPr>
        <p:spPr>
          <a:xfrm>
            <a:off x="502920" y="3730752"/>
            <a:ext cx="8138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148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4A148C"/>
                </a:solidFill>
                <a:latin typeface="Calibri"/>
                <a:ea typeface="Calibri"/>
                <a:cs typeface="Calibri"/>
                <a:sym typeface="Calibri"/>
              </a:rPr>
              <a:t>Falta de Transparencia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8"/>
          <p:cNvSpPr/>
          <p:nvPr/>
        </p:nvSpPr>
        <p:spPr>
          <a:xfrm>
            <a:off x="548640" y="4041648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Modelos IA son 'cajas negras' — médicos no confían sin explicación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8"/>
          <p:cNvSpPr/>
          <p:nvPr/>
        </p:nvSpPr>
        <p:spPr>
          <a:xfrm>
            <a:off x="548640" y="4315968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RGPD art. 22: derecho a explicación en decisiones automatizadas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8"/>
          <p:cNvSpPr/>
          <p:nvPr/>
        </p:nvSpPr>
        <p:spPr>
          <a:xfrm>
            <a:off x="548640" y="4590288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Solución: SHAP sobre Random Forest para explicabilidad local y global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9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E7D32"/>
          </a:solidFill>
          <a:ln cap="flat" cmpd="sng" w="1270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9"/>
          <p:cNvSpPr/>
          <p:nvPr/>
        </p:nvSpPr>
        <p:spPr>
          <a:xfrm>
            <a:off x="365760" y="109728"/>
            <a:ext cx="84124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4. Metodología — Preprocesamiento y Baseline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9"/>
          <p:cNvSpPr/>
          <p:nvPr/>
        </p:nvSpPr>
        <p:spPr>
          <a:xfrm>
            <a:off x="274320" y="896112"/>
            <a:ext cx="4160520" cy="914400"/>
          </a:xfrm>
          <a:prstGeom prst="rect">
            <a:avLst/>
          </a:prstGeom>
          <a:solidFill>
            <a:srgbClr val="F1F8E9"/>
          </a:solidFill>
          <a:ln cap="flat" cmpd="sng" w="12700">
            <a:solidFill>
              <a:srgbClr val="A5D6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9"/>
          <p:cNvSpPr/>
          <p:nvPr/>
        </p:nvSpPr>
        <p:spPr>
          <a:xfrm>
            <a:off x="320040" y="1097280"/>
            <a:ext cx="512064" cy="512064"/>
          </a:xfrm>
          <a:prstGeom prst="ellipse">
            <a:avLst/>
          </a:prstGeom>
          <a:solidFill>
            <a:srgbClr val="2E7D32"/>
          </a:solidFill>
          <a:ln cap="flat" cmpd="sng" w="1270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9"/>
          <p:cNvSpPr/>
          <p:nvPr/>
        </p:nvSpPr>
        <p:spPr>
          <a:xfrm>
            <a:off x="320040" y="1097280"/>
            <a:ext cx="512064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9"/>
          <p:cNvSpPr/>
          <p:nvPr/>
        </p:nvSpPr>
        <p:spPr>
          <a:xfrm>
            <a:off x="932688" y="969264"/>
            <a:ext cx="34015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5E2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5E20"/>
                </a:solidFill>
                <a:latin typeface="Calibri"/>
                <a:ea typeface="Calibri"/>
                <a:cs typeface="Calibri"/>
                <a:sym typeface="Calibri"/>
              </a:rPr>
              <a:t>Eliminación de nulos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9"/>
          <p:cNvSpPr/>
          <p:nvPr/>
        </p:nvSpPr>
        <p:spPr>
          <a:xfrm>
            <a:off x="932688" y="1316736"/>
            <a:ext cx="3401568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dropna() — 6 filas eliminadas (ca: 4, thal: 2)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9"/>
          <p:cNvSpPr/>
          <p:nvPr/>
        </p:nvSpPr>
        <p:spPr>
          <a:xfrm>
            <a:off x="274320" y="1920240"/>
            <a:ext cx="4160520" cy="914400"/>
          </a:xfrm>
          <a:prstGeom prst="rect">
            <a:avLst/>
          </a:prstGeom>
          <a:solidFill>
            <a:srgbClr val="F1F8E9"/>
          </a:solidFill>
          <a:ln cap="flat" cmpd="sng" w="12700">
            <a:solidFill>
              <a:srgbClr val="A5D6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9"/>
          <p:cNvSpPr/>
          <p:nvPr/>
        </p:nvSpPr>
        <p:spPr>
          <a:xfrm>
            <a:off x="320040" y="2121408"/>
            <a:ext cx="512064" cy="512064"/>
          </a:xfrm>
          <a:prstGeom prst="ellipse">
            <a:avLst/>
          </a:prstGeom>
          <a:solidFill>
            <a:srgbClr val="2E7D32"/>
          </a:solidFill>
          <a:ln cap="flat" cmpd="sng" w="1270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9"/>
          <p:cNvSpPr/>
          <p:nvPr/>
        </p:nvSpPr>
        <p:spPr>
          <a:xfrm>
            <a:off x="320040" y="2121408"/>
            <a:ext cx="512064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9"/>
          <p:cNvSpPr/>
          <p:nvPr/>
        </p:nvSpPr>
        <p:spPr>
          <a:xfrm>
            <a:off x="932688" y="1993392"/>
            <a:ext cx="34015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5E2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5E20"/>
                </a:solidFill>
                <a:latin typeface="Calibri"/>
                <a:ea typeface="Calibri"/>
                <a:cs typeface="Calibri"/>
                <a:sym typeface="Calibri"/>
              </a:rPr>
              <a:t>Binarización del target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9"/>
          <p:cNvSpPr/>
          <p:nvPr/>
        </p:nvSpPr>
        <p:spPr>
          <a:xfrm>
            <a:off x="932688" y="2340864"/>
            <a:ext cx="3401568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num → 0 si num=0 (sano), 1 si num&gt;0 (enfermedad)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9"/>
          <p:cNvSpPr/>
          <p:nvPr/>
        </p:nvSpPr>
        <p:spPr>
          <a:xfrm>
            <a:off x="274320" y="2944368"/>
            <a:ext cx="4160520" cy="914400"/>
          </a:xfrm>
          <a:prstGeom prst="rect">
            <a:avLst/>
          </a:prstGeom>
          <a:solidFill>
            <a:srgbClr val="F1F8E9"/>
          </a:solidFill>
          <a:ln cap="flat" cmpd="sng" w="12700">
            <a:solidFill>
              <a:srgbClr val="A5D6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9"/>
          <p:cNvSpPr/>
          <p:nvPr/>
        </p:nvSpPr>
        <p:spPr>
          <a:xfrm>
            <a:off x="320040" y="3145536"/>
            <a:ext cx="512064" cy="512064"/>
          </a:xfrm>
          <a:prstGeom prst="ellipse">
            <a:avLst/>
          </a:prstGeom>
          <a:solidFill>
            <a:srgbClr val="2E7D32"/>
          </a:solidFill>
          <a:ln cap="flat" cmpd="sng" w="1270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9"/>
          <p:cNvSpPr/>
          <p:nvPr/>
        </p:nvSpPr>
        <p:spPr>
          <a:xfrm>
            <a:off x="320040" y="3145536"/>
            <a:ext cx="512064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9"/>
          <p:cNvSpPr/>
          <p:nvPr/>
        </p:nvSpPr>
        <p:spPr>
          <a:xfrm>
            <a:off x="932688" y="3017520"/>
            <a:ext cx="34015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5E2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5E20"/>
                </a:solidFill>
                <a:latin typeface="Calibri"/>
                <a:ea typeface="Calibri"/>
                <a:cs typeface="Calibri"/>
                <a:sym typeface="Calibri"/>
              </a:rPr>
              <a:t>División train/test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9"/>
          <p:cNvSpPr/>
          <p:nvPr/>
        </p:nvSpPr>
        <p:spPr>
          <a:xfrm>
            <a:off x="932688" y="3364992"/>
            <a:ext cx="3401568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80/20 estratificada (random_state=42) — sin data leakage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9"/>
          <p:cNvSpPr/>
          <p:nvPr/>
        </p:nvSpPr>
        <p:spPr>
          <a:xfrm>
            <a:off x="274320" y="3968496"/>
            <a:ext cx="4160520" cy="914400"/>
          </a:xfrm>
          <a:prstGeom prst="rect">
            <a:avLst/>
          </a:prstGeom>
          <a:solidFill>
            <a:srgbClr val="F1F8E9"/>
          </a:solidFill>
          <a:ln cap="flat" cmpd="sng" w="12700">
            <a:solidFill>
              <a:srgbClr val="A5D6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9"/>
          <p:cNvSpPr/>
          <p:nvPr/>
        </p:nvSpPr>
        <p:spPr>
          <a:xfrm>
            <a:off x="320040" y="4169664"/>
            <a:ext cx="512064" cy="512064"/>
          </a:xfrm>
          <a:prstGeom prst="ellipse">
            <a:avLst/>
          </a:prstGeom>
          <a:solidFill>
            <a:srgbClr val="2E7D32"/>
          </a:solidFill>
          <a:ln cap="flat" cmpd="sng" w="1270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9"/>
          <p:cNvSpPr/>
          <p:nvPr/>
        </p:nvSpPr>
        <p:spPr>
          <a:xfrm>
            <a:off x="320040" y="4169664"/>
            <a:ext cx="512064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9"/>
          <p:cNvSpPr/>
          <p:nvPr/>
        </p:nvSpPr>
        <p:spPr>
          <a:xfrm>
            <a:off x="932688" y="4041648"/>
            <a:ext cx="34015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5E2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5E20"/>
                </a:solidFill>
                <a:latin typeface="Calibri"/>
                <a:ea typeface="Calibri"/>
                <a:cs typeface="Calibri"/>
                <a:sym typeface="Calibri"/>
              </a:rPr>
              <a:t>Imputación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9"/>
          <p:cNvSpPr/>
          <p:nvPr/>
        </p:nvSpPr>
        <p:spPr>
          <a:xfrm>
            <a:off x="932688" y="4389120"/>
            <a:ext cx="3401568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Numéricas: mediana (robusta a outliers) · Categóricas: moda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9"/>
          <p:cNvSpPr/>
          <p:nvPr/>
        </p:nvSpPr>
        <p:spPr>
          <a:xfrm>
            <a:off x="4754880" y="896112"/>
            <a:ext cx="4160520" cy="914400"/>
          </a:xfrm>
          <a:prstGeom prst="rect">
            <a:avLst/>
          </a:prstGeom>
          <a:solidFill>
            <a:srgbClr val="F1F8E9"/>
          </a:solidFill>
          <a:ln cap="flat" cmpd="sng" w="12700">
            <a:solidFill>
              <a:srgbClr val="A5D6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9"/>
          <p:cNvSpPr/>
          <p:nvPr/>
        </p:nvSpPr>
        <p:spPr>
          <a:xfrm>
            <a:off x="4800600" y="1097280"/>
            <a:ext cx="512064" cy="512064"/>
          </a:xfrm>
          <a:prstGeom prst="ellipse">
            <a:avLst/>
          </a:prstGeom>
          <a:solidFill>
            <a:srgbClr val="2E7D32"/>
          </a:solidFill>
          <a:ln cap="flat" cmpd="sng" w="1270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9"/>
          <p:cNvSpPr/>
          <p:nvPr/>
        </p:nvSpPr>
        <p:spPr>
          <a:xfrm>
            <a:off x="4800600" y="1097280"/>
            <a:ext cx="512064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9"/>
          <p:cNvSpPr/>
          <p:nvPr/>
        </p:nvSpPr>
        <p:spPr>
          <a:xfrm>
            <a:off x="5413248" y="969264"/>
            <a:ext cx="34015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5E2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5E20"/>
                </a:solidFill>
                <a:latin typeface="Calibri"/>
                <a:ea typeface="Calibri"/>
                <a:cs typeface="Calibri"/>
                <a:sym typeface="Calibri"/>
              </a:rPr>
              <a:t>Escalado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9"/>
          <p:cNvSpPr/>
          <p:nvPr/>
        </p:nvSpPr>
        <p:spPr>
          <a:xfrm>
            <a:off x="5413248" y="1316736"/>
            <a:ext cx="3401568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StandardScaler sobre variables numéricas continuas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9"/>
          <p:cNvSpPr/>
          <p:nvPr/>
        </p:nvSpPr>
        <p:spPr>
          <a:xfrm>
            <a:off x="4754880" y="1920240"/>
            <a:ext cx="4160520" cy="914400"/>
          </a:xfrm>
          <a:prstGeom prst="rect">
            <a:avLst/>
          </a:prstGeom>
          <a:solidFill>
            <a:srgbClr val="F1F8E9"/>
          </a:solidFill>
          <a:ln cap="flat" cmpd="sng" w="12700">
            <a:solidFill>
              <a:srgbClr val="A5D6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9"/>
          <p:cNvSpPr/>
          <p:nvPr/>
        </p:nvSpPr>
        <p:spPr>
          <a:xfrm>
            <a:off x="4800600" y="2121408"/>
            <a:ext cx="512064" cy="512064"/>
          </a:xfrm>
          <a:prstGeom prst="ellipse">
            <a:avLst/>
          </a:prstGeom>
          <a:solidFill>
            <a:srgbClr val="2E7D32"/>
          </a:solidFill>
          <a:ln cap="flat" cmpd="sng" w="1270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9"/>
          <p:cNvSpPr/>
          <p:nvPr/>
        </p:nvSpPr>
        <p:spPr>
          <a:xfrm>
            <a:off x="4800600" y="2121408"/>
            <a:ext cx="512064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9"/>
          <p:cNvSpPr/>
          <p:nvPr/>
        </p:nvSpPr>
        <p:spPr>
          <a:xfrm>
            <a:off x="5413248" y="1993392"/>
            <a:ext cx="34015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5E2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5E20"/>
                </a:solidFill>
                <a:latin typeface="Calibri"/>
                <a:ea typeface="Calibri"/>
                <a:cs typeface="Calibri"/>
                <a:sym typeface="Calibri"/>
              </a:rPr>
              <a:t>Codificación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9"/>
          <p:cNvSpPr/>
          <p:nvPr/>
        </p:nvSpPr>
        <p:spPr>
          <a:xfrm>
            <a:off x="5413248" y="2340864"/>
            <a:ext cx="3401568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OneHotEncoder(drop='first') para evitar multicolinealidad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9"/>
          <p:cNvSpPr/>
          <p:nvPr/>
        </p:nvSpPr>
        <p:spPr>
          <a:xfrm>
            <a:off x="4754880" y="2944368"/>
            <a:ext cx="4160520" cy="914400"/>
          </a:xfrm>
          <a:prstGeom prst="rect">
            <a:avLst/>
          </a:prstGeom>
          <a:solidFill>
            <a:srgbClr val="F1F8E9"/>
          </a:solidFill>
          <a:ln cap="flat" cmpd="sng" w="12700">
            <a:solidFill>
              <a:srgbClr val="A5D6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9"/>
          <p:cNvSpPr/>
          <p:nvPr/>
        </p:nvSpPr>
        <p:spPr>
          <a:xfrm>
            <a:off x="4800600" y="3145536"/>
            <a:ext cx="512064" cy="512064"/>
          </a:xfrm>
          <a:prstGeom prst="ellipse">
            <a:avLst/>
          </a:prstGeom>
          <a:solidFill>
            <a:srgbClr val="2E7D32"/>
          </a:solidFill>
          <a:ln cap="flat" cmpd="sng" w="1270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9"/>
          <p:cNvSpPr/>
          <p:nvPr/>
        </p:nvSpPr>
        <p:spPr>
          <a:xfrm>
            <a:off x="4800600" y="3145536"/>
            <a:ext cx="512064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9"/>
          <p:cNvSpPr/>
          <p:nvPr/>
        </p:nvSpPr>
        <p:spPr>
          <a:xfrm>
            <a:off x="5413248" y="3017520"/>
            <a:ext cx="34015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5E2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5E20"/>
                </a:solidFill>
                <a:latin typeface="Calibri"/>
                <a:ea typeface="Calibri"/>
                <a:cs typeface="Calibri"/>
                <a:sym typeface="Calibri"/>
              </a:rPr>
              <a:t>Balanceo: SMOTETomek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9"/>
          <p:cNvSpPr/>
          <p:nvPr/>
        </p:nvSpPr>
        <p:spPr>
          <a:xfrm>
            <a:off x="5413248" y="3364992"/>
            <a:ext cx="3401568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Solo en entrenamiento: 128→117 (clase 0), 109→117 (clase 1)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9"/>
          <p:cNvSpPr/>
          <p:nvPr/>
        </p:nvSpPr>
        <p:spPr>
          <a:xfrm>
            <a:off x="4754880" y="4114800"/>
            <a:ext cx="4160520" cy="914400"/>
          </a:xfrm>
          <a:prstGeom prst="rect">
            <a:avLst/>
          </a:prstGeom>
          <a:solidFill>
            <a:srgbClr val="E8EAF6"/>
          </a:solidFill>
          <a:ln cap="flat" cmpd="sng" w="19050">
            <a:solidFill>
              <a:srgbClr val="3949A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9"/>
          <p:cNvSpPr/>
          <p:nvPr/>
        </p:nvSpPr>
        <p:spPr>
          <a:xfrm>
            <a:off x="4754880" y="4114800"/>
            <a:ext cx="73152" cy="914400"/>
          </a:xfrm>
          <a:prstGeom prst="rect">
            <a:avLst/>
          </a:prstGeom>
          <a:solidFill>
            <a:srgbClr val="3949AB"/>
          </a:solidFill>
          <a:ln cap="flat" cmpd="sng" w="12700">
            <a:solidFill>
              <a:srgbClr val="3949A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9"/>
          <p:cNvSpPr/>
          <p:nvPr/>
        </p:nvSpPr>
        <p:spPr>
          <a:xfrm>
            <a:off x="4892040" y="4187952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Baseline: Regresión Logística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9"/>
          <p:cNvSpPr/>
          <p:nvPr/>
        </p:nvSpPr>
        <p:spPr>
          <a:xfrm>
            <a:off x="4892040" y="4517136"/>
            <a:ext cx="384048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Solver lbfgs · regularización ℓ² (C=1) · CV estratificada 5 folds · métrica: AUC-ROC y Recall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E7D32"/>
          </a:solidFill>
          <a:ln cap="flat" cmpd="sng" w="1270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0"/>
          <p:cNvSpPr/>
          <p:nvPr/>
        </p:nvSpPr>
        <p:spPr>
          <a:xfrm>
            <a:off x="365760" y="109728"/>
            <a:ext cx="84124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4. Metodología — Aprendizaje Federado (Privacidad)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0"/>
          <p:cNvSpPr/>
          <p:nvPr/>
        </p:nvSpPr>
        <p:spPr>
          <a:xfrm>
            <a:off x="3284678" y="3041974"/>
            <a:ext cx="2574900" cy="393300"/>
          </a:xfrm>
          <a:prstGeom prst="rect">
            <a:avLst/>
          </a:prstGeom>
          <a:solidFill>
            <a:srgbClr val="1A237E"/>
          </a:solidFill>
          <a:ln cap="flat" cmpd="sng" w="9375">
            <a:solidFill>
              <a:srgbClr val="1A23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7500" lIns="67500" spcFirstLastPara="1" rIns="67500" wrap="square" tIns="67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0"/>
          <p:cNvSpPr/>
          <p:nvPr/>
        </p:nvSpPr>
        <p:spPr>
          <a:xfrm>
            <a:off x="3284623" y="3030272"/>
            <a:ext cx="2574900" cy="40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34"/>
              <a:buFont typeface="Calibri"/>
              <a:buNone/>
            </a:pPr>
            <a:r>
              <a:rPr b="1" i="0" lang="en-US" sz="103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SERVIDOR CENTRAL — FedAvg</a:t>
            </a:r>
            <a:endParaRPr b="0" i="0" sz="10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0"/>
          <p:cNvSpPr/>
          <p:nvPr/>
        </p:nvSpPr>
        <p:spPr>
          <a:xfrm>
            <a:off x="365745" y="3515955"/>
            <a:ext cx="8595300" cy="548700"/>
          </a:xfrm>
          <a:prstGeom prst="rect">
            <a:avLst/>
          </a:prstGeom>
          <a:solidFill>
            <a:srgbClr val="EEF4FF"/>
          </a:solidFill>
          <a:ln cap="flat" cmpd="sng" w="12700">
            <a:solidFill>
              <a:srgbClr val="BBDE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0"/>
          <p:cNvSpPr/>
          <p:nvPr/>
        </p:nvSpPr>
        <p:spPr>
          <a:xfrm>
            <a:off x="548625" y="3561675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wglobal = Σ(nk · wk) / Σnk   →   Promedio ponderado por tamaño de partición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0"/>
          <p:cNvSpPr/>
          <p:nvPr/>
        </p:nvSpPr>
        <p:spPr>
          <a:xfrm>
            <a:off x="365745" y="4156035"/>
            <a:ext cx="4114800" cy="25590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0"/>
          <p:cNvSpPr/>
          <p:nvPr/>
        </p:nvSpPr>
        <p:spPr>
          <a:xfrm>
            <a:off x="457185" y="4156035"/>
            <a:ext cx="2286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K (clientes):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0"/>
          <p:cNvSpPr/>
          <p:nvPr/>
        </p:nvSpPr>
        <p:spPr>
          <a:xfrm>
            <a:off x="2834625" y="4156035"/>
            <a:ext cx="1554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0"/>
          <p:cNvSpPr/>
          <p:nvPr/>
        </p:nvSpPr>
        <p:spPr>
          <a:xfrm>
            <a:off x="365745" y="4448643"/>
            <a:ext cx="4114800" cy="25590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0"/>
          <p:cNvSpPr/>
          <p:nvPr/>
        </p:nvSpPr>
        <p:spPr>
          <a:xfrm>
            <a:off x="457185" y="4448643"/>
            <a:ext cx="2286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R (rondas):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0"/>
          <p:cNvSpPr/>
          <p:nvPr/>
        </p:nvSpPr>
        <p:spPr>
          <a:xfrm>
            <a:off x="2834625" y="4448643"/>
            <a:ext cx="1554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0"/>
          <p:cNvSpPr/>
          <p:nvPr/>
        </p:nvSpPr>
        <p:spPr>
          <a:xfrm>
            <a:off x="365745" y="4741251"/>
            <a:ext cx="4114800" cy="25590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0"/>
          <p:cNvSpPr/>
          <p:nvPr/>
        </p:nvSpPr>
        <p:spPr>
          <a:xfrm>
            <a:off x="457185" y="4741251"/>
            <a:ext cx="2286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E (épocas locales):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0"/>
          <p:cNvSpPr/>
          <p:nvPr/>
        </p:nvSpPr>
        <p:spPr>
          <a:xfrm>
            <a:off x="2834625" y="4741251"/>
            <a:ext cx="1554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100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0"/>
          <p:cNvSpPr/>
          <p:nvPr/>
        </p:nvSpPr>
        <p:spPr>
          <a:xfrm>
            <a:off x="4846305" y="4156035"/>
            <a:ext cx="4114800" cy="25590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0"/>
          <p:cNvSpPr/>
          <p:nvPr/>
        </p:nvSpPr>
        <p:spPr>
          <a:xfrm>
            <a:off x="4937745" y="4156035"/>
            <a:ext cx="2286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η (learning rate):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0"/>
          <p:cNvSpPr/>
          <p:nvPr/>
        </p:nvSpPr>
        <p:spPr>
          <a:xfrm>
            <a:off x="7315185" y="4156035"/>
            <a:ext cx="1554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0,05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0"/>
          <p:cNvSpPr/>
          <p:nvPr/>
        </p:nvSpPr>
        <p:spPr>
          <a:xfrm>
            <a:off x="4846305" y="4448643"/>
            <a:ext cx="4114800" cy="25590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0"/>
          <p:cNvSpPr/>
          <p:nvPr/>
        </p:nvSpPr>
        <p:spPr>
          <a:xfrm>
            <a:off x="4937745" y="4448643"/>
            <a:ext cx="2286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λ (regularización):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0"/>
          <p:cNvSpPr/>
          <p:nvPr/>
        </p:nvSpPr>
        <p:spPr>
          <a:xfrm>
            <a:off x="7315185" y="4448643"/>
            <a:ext cx="1554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0,01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0"/>
          <p:cNvSpPr/>
          <p:nvPr/>
        </p:nvSpPr>
        <p:spPr>
          <a:xfrm>
            <a:off x="365745" y="4128603"/>
            <a:ext cx="8595300" cy="274200"/>
          </a:xfrm>
          <a:prstGeom prst="rect">
            <a:avLst/>
          </a:prstGeom>
          <a:solidFill>
            <a:srgbClr val="E8F5E9"/>
          </a:solidFill>
          <a:ln cap="flat" cmpd="sng" w="12700">
            <a:solidFill>
              <a:srgbClr val="66BB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0"/>
          <p:cNvSpPr/>
          <p:nvPr/>
        </p:nvSpPr>
        <p:spPr>
          <a:xfrm>
            <a:off x="502905" y="4156035"/>
            <a:ext cx="83211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SMOTETomek local: balanceo completamente privado — ninguna muestra (real ni sintética) abandona el cliente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0"/>
          <p:cNvSpPr/>
          <p:nvPr/>
        </p:nvSpPr>
        <p:spPr>
          <a:xfrm>
            <a:off x="1508800" y="820487"/>
            <a:ext cx="1864500" cy="488400"/>
          </a:xfrm>
          <a:prstGeom prst="rect">
            <a:avLst/>
          </a:prstGeom>
          <a:solidFill>
            <a:srgbClr val="E3F2FD"/>
          </a:solidFill>
          <a:ln cap="flat" cmpd="sng" w="185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8775" lIns="88775" spcFirstLastPara="1" rIns="88775" wrap="square" tIns="88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0"/>
          <p:cNvSpPr/>
          <p:nvPr/>
        </p:nvSpPr>
        <p:spPr>
          <a:xfrm>
            <a:off x="1508800" y="820487"/>
            <a:ext cx="18645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375" lIns="88775" spcFirstLastPara="1" rIns="88775" wrap="square" tIns="44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165"/>
              <a:buFont typeface="Calibri"/>
              <a:buNone/>
            </a:pPr>
            <a:r>
              <a:rPr b="1" i="0" lang="en-US" sz="1165" u="none" cap="none" strike="noStrik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Hospital A</a:t>
            </a:r>
            <a:endParaRPr b="0" i="0" sz="116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0"/>
          <p:cNvSpPr/>
          <p:nvPr/>
        </p:nvSpPr>
        <p:spPr>
          <a:xfrm>
            <a:off x="1508800" y="1353226"/>
            <a:ext cx="18645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375" lIns="88775" spcFirstLastPara="1" rIns="88775" wrap="square" tIns="44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971"/>
              <a:buFont typeface="Calibri"/>
              <a:buNone/>
            </a:pPr>
            <a:r>
              <a:rPr b="0" i="1" lang="en-US" sz="971" u="none" cap="none" strike="noStrik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Datos Dk</a:t>
            </a:r>
            <a:endParaRPr b="0" i="0" sz="97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0"/>
          <p:cNvSpPr/>
          <p:nvPr/>
        </p:nvSpPr>
        <p:spPr>
          <a:xfrm>
            <a:off x="1508800" y="1708385"/>
            <a:ext cx="1864500" cy="53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375" lIns="88775" spcFirstLastPara="1" rIns="88775" wrap="square" tIns="44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22"/>
              <a:buFont typeface="Calibri"/>
              <a:buNone/>
            </a:pPr>
            <a:r>
              <a:rPr b="0" i="0" lang="en-US" sz="922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Entrenamiento</a:t>
            </a:r>
            <a:endParaRPr b="0" i="0" sz="92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22"/>
              <a:buFont typeface="Calibri"/>
              <a:buNone/>
            </a:pPr>
            <a:r>
              <a:rPr b="0" i="0" lang="en-US" sz="922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local (E épocas)</a:t>
            </a:r>
            <a:endParaRPr b="0" i="0" sz="92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7" name="Google Shape;277;p10"/>
          <p:cNvCxnSpPr/>
          <p:nvPr/>
        </p:nvCxnSpPr>
        <p:spPr>
          <a:xfrm>
            <a:off x="2441090" y="2303277"/>
            <a:ext cx="0" cy="532800"/>
          </a:xfrm>
          <a:prstGeom prst="straightConnector1">
            <a:avLst/>
          </a:prstGeom>
          <a:noFill/>
          <a:ln cap="flat" cmpd="sng" w="18500">
            <a:solidFill>
              <a:srgbClr val="1565C0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78" name="Google Shape;278;p10"/>
          <p:cNvSpPr/>
          <p:nvPr/>
        </p:nvSpPr>
        <p:spPr>
          <a:xfrm>
            <a:off x="1997142" y="2800501"/>
            <a:ext cx="888000" cy="2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375" lIns="88775" spcFirstLastPara="1" rIns="88775" wrap="square" tIns="44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874"/>
              <a:buFont typeface="Calibri"/>
              <a:buNone/>
            </a:pPr>
            <a:r>
              <a:rPr b="0" i="0" lang="en-US" sz="874" u="none" cap="none" strike="noStrik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↑ wk</a:t>
            </a:r>
            <a:endParaRPr b="0" i="0" sz="8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0"/>
          <p:cNvSpPr/>
          <p:nvPr/>
        </p:nvSpPr>
        <p:spPr>
          <a:xfrm>
            <a:off x="3639748" y="820487"/>
            <a:ext cx="1864500" cy="488400"/>
          </a:xfrm>
          <a:prstGeom prst="rect">
            <a:avLst/>
          </a:prstGeom>
          <a:solidFill>
            <a:srgbClr val="E3F2FD"/>
          </a:solidFill>
          <a:ln cap="flat" cmpd="sng" w="185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8775" lIns="88775" spcFirstLastPara="1" rIns="88775" wrap="square" tIns="88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0"/>
          <p:cNvSpPr/>
          <p:nvPr/>
        </p:nvSpPr>
        <p:spPr>
          <a:xfrm>
            <a:off x="3639748" y="820487"/>
            <a:ext cx="18645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375" lIns="88775" spcFirstLastPara="1" rIns="88775" wrap="square" tIns="44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165"/>
              <a:buFont typeface="Calibri"/>
              <a:buNone/>
            </a:pPr>
            <a:r>
              <a:rPr b="1" i="0" lang="en-US" sz="1165" u="none" cap="none" strike="noStrik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Hospital B</a:t>
            </a:r>
            <a:endParaRPr b="0" i="0" sz="116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0"/>
          <p:cNvSpPr/>
          <p:nvPr/>
        </p:nvSpPr>
        <p:spPr>
          <a:xfrm>
            <a:off x="3639748" y="1353226"/>
            <a:ext cx="18645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375" lIns="88775" spcFirstLastPara="1" rIns="88775" wrap="square" tIns="44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971"/>
              <a:buFont typeface="Calibri"/>
              <a:buNone/>
            </a:pPr>
            <a:r>
              <a:rPr b="0" i="1" lang="en-US" sz="971" u="none" cap="none" strike="noStrik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Datos Dk</a:t>
            </a:r>
            <a:endParaRPr b="0" i="0" sz="97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0"/>
          <p:cNvSpPr/>
          <p:nvPr/>
        </p:nvSpPr>
        <p:spPr>
          <a:xfrm>
            <a:off x="3639748" y="1708385"/>
            <a:ext cx="1864500" cy="53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375" lIns="88775" spcFirstLastPara="1" rIns="88775" wrap="square" tIns="44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22"/>
              <a:buFont typeface="Calibri"/>
              <a:buNone/>
            </a:pPr>
            <a:r>
              <a:rPr b="0" i="0" lang="en-US" sz="922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Entrenamiento</a:t>
            </a:r>
            <a:endParaRPr b="0" i="0" sz="92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22"/>
              <a:buFont typeface="Calibri"/>
              <a:buNone/>
            </a:pPr>
            <a:r>
              <a:rPr b="0" i="0" lang="en-US" sz="922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local (E épocas)</a:t>
            </a:r>
            <a:endParaRPr b="0" i="0" sz="92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3" name="Google Shape;283;p10"/>
          <p:cNvCxnSpPr/>
          <p:nvPr/>
        </p:nvCxnSpPr>
        <p:spPr>
          <a:xfrm>
            <a:off x="4572038" y="2303277"/>
            <a:ext cx="0" cy="532800"/>
          </a:xfrm>
          <a:prstGeom prst="straightConnector1">
            <a:avLst/>
          </a:prstGeom>
          <a:noFill/>
          <a:ln cap="flat" cmpd="sng" w="18500">
            <a:solidFill>
              <a:srgbClr val="1565C0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84" name="Google Shape;284;p10"/>
          <p:cNvSpPr/>
          <p:nvPr/>
        </p:nvSpPr>
        <p:spPr>
          <a:xfrm>
            <a:off x="4128090" y="2800501"/>
            <a:ext cx="888000" cy="2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375" lIns="88775" spcFirstLastPara="1" rIns="88775" wrap="square" tIns="44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874"/>
              <a:buFont typeface="Calibri"/>
              <a:buNone/>
            </a:pPr>
            <a:r>
              <a:rPr b="0" i="0" lang="en-US" sz="874" u="none" cap="none" strike="noStrik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↑ wk</a:t>
            </a:r>
            <a:endParaRPr b="0" i="0" sz="8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0"/>
          <p:cNvSpPr/>
          <p:nvPr/>
        </p:nvSpPr>
        <p:spPr>
          <a:xfrm>
            <a:off x="5770696" y="820487"/>
            <a:ext cx="1864500" cy="488400"/>
          </a:xfrm>
          <a:prstGeom prst="rect">
            <a:avLst/>
          </a:prstGeom>
          <a:solidFill>
            <a:srgbClr val="E3F2FD"/>
          </a:solidFill>
          <a:ln cap="flat" cmpd="sng" w="185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8775" lIns="88775" spcFirstLastPara="1" rIns="88775" wrap="square" tIns="88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0"/>
          <p:cNvSpPr/>
          <p:nvPr/>
        </p:nvSpPr>
        <p:spPr>
          <a:xfrm>
            <a:off x="5770696" y="820487"/>
            <a:ext cx="18645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375" lIns="88775" spcFirstLastPara="1" rIns="88775" wrap="square" tIns="44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165"/>
              <a:buFont typeface="Calibri"/>
              <a:buNone/>
            </a:pPr>
            <a:r>
              <a:rPr b="1" i="0" lang="en-US" sz="1165" u="none" cap="none" strike="noStrik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Hospital C</a:t>
            </a:r>
            <a:endParaRPr b="0" i="0" sz="116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0"/>
          <p:cNvSpPr/>
          <p:nvPr/>
        </p:nvSpPr>
        <p:spPr>
          <a:xfrm>
            <a:off x="5770696" y="1353226"/>
            <a:ext cx="18645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375" lIns="88775" spcFirstLastPara="1" rIns="88775" wrap="square" tIns="44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971"/>
              <a:buFont typeface="Calibri"/>
              <a:buNone/>
            </a:pPr>
            <a:r>
              <a:rPr b="0" i="1" lang="en-US" sz="971" u="none" cap="none" strike="noStrik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Datos Dk</a:t>
            </a:r>
            <a:endParaRPr b="0" i="0" sz="97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0"/>
          <p:cNvSpPr/>
          <p:nvPr/>
        </p:nvSpPr>
        <p:spPr>
          <a:xfrm>
            <a:off x="5770696" y="1708385"/>
            <a:ext cx="1864500" cy="53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375" lIns="88775" spcFirstLastPara="1" rIns="88775" wrap="square" tIns="44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22"/>
              <a:buFont typeface="Calibri"/>
              <a:buNone/>
            </a:pPr>
            <a:r>
              <a:rPr b="0" i="0" lang="en-US" sz="922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Entrenamiento</a:t>
            </a:r>
            <a:endParaRPr b="0" i="0" sz="92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22"/>
              <a:buFont typeface="Calibri"/>
              <a:buNone/>
            </a:pPr>
            <a:r>
              <a:rPr b="0" i="0" lang="en-US" sz="922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local (E épocas)</a:t>
            </a:r>
            <a:endParaRPr b="0" i="0" sz="92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9" name="Google Shape;289;p10"/>
          <p:cNvCxnSpPr/>
          <p:nvPr/>
        </p:nvCxnSpPr>
        <p:spPr>
          <a:xfrm>
            <a:off x="6702985" y="2303277"/>
            <a:ext cx="0" cy="532800"/>
          </a:xfrm>
          <a:prstGeom prst="straightConnector1">
            <a:avLst/>
          </a:prstGeom>
          <a:noFill/>
          <a:ln cap="flat" cmpd="sng" w="18500">
            <a:solidFill>
              <a:srgbClr val="1565C0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90" name="Google Shape;290;p10"/>
          <p:cNvSpPr/>
          <p:nvPr/>
        </p:nvSpPr>
        <p:spPr>
          <a:xfrm>
            <a:off x="6259038" y="2781576"/>
            <a:ext cx="888000" cy="2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375" lIns="88775" spcFirstLastPara="1" rIns="88775" wrap="square" tIns="44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874"/>
              <a:buFont typeface="Calibri"/>
              <a:buNone/>
            </a:pPr>
            <a:r>
              <a:rPr b="0" i="0" lang="en-US" sz="874" u="none" cap="none" strike="noStrik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↑ wk</a:t>
            </a:r>
            <a:endParaRPr b="0" i="0" sz="8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E7D32"/>
          </a:solidFill>
          <a:ln cap="flat" cmpd="sng" w="1270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1"/>
          <p:cNvSpPr/>
          <p:nvPr/>
        </p:nvSpPr>
        <p:spPr>
          <a:xfrm>
            <a:off x="365760" y="109728"/>
            <a:ext cx="84124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4. Metodología — Modelos y Explicabilidad SHAP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1"/>
          <p:cNvSpPr/>
          <p:nvPr/>
        </p:nvSpPr>
        <p:spPr>
          <a:xfrm>
            <a:off x="274320" y="806002"/>
            <a:ext cx="8595300" cy="1234500"/>
          </a:xfrm>
          <a:prstGeom prst="rect">
            <a:avLst/>
          </a:prstGeom>
          <a:solidFill>
            <a:srgbClr val="E3F2FD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1"/>
          <p:cNvSpPr/>
          <p:nvPr/>
        </p:nvSpPr>
        <p:spPr>
          <a:xfrm>
            <a:off x="274320" y="806002"/>
            <a:ext cx="73200" cy="1234500"/>
          </a:xfrm>
          <a:prstGeom prst="rect">
            <a:avLst/>
          </a:prstGeom>
          <a:solidFill>
            <a:srgbClr val="1565C0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1"/>
          <p:cNvSpPr/>
          <p:nvPr/>
        </p:nvSpPr>
        <p:spPr>
          <a:xfrm>
            <a:off x="502920" y="851722"/>
            <a:ext cx="8229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Random Forest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1"/>
          <p:cNvSpPr/>
          <p:nvPr/>
        </p:nvSpPr>
        <p:spPr>
          <a:xfrm>
            <a:off x="502920" y="1190050"/>
            <a:ext cx="82296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T árboles sobre muestras bootstrap · m=√d características por nodo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Doble aleatoriedad: reduce varianza sin aumentar sesgo — robusto ante sobreajuste en datasets pequeños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T=500 · criterio: Gini · hiperparámetros por GridSearch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1"/>
          <p:cNvSpPr/>
          <p:nvPr/>
        </p:nvSpPr>
        <p:spPr>
          <a:xfrm>
            <a:off x="274357" y="2096302"/>
            <a:ext cx="8595300" cy="1234500"/>
          </a:xfrm>
          <a:prstGeom prst="rect">
            <a:avLst/>
          </a:prstGeom>
          <a:solidFill>
            <a:srgbClr val="F3E5F5"/>
          </a:solidFill>
          <a:ln cap="flat" cmpd="sng" w="12700">
            <a:solidFill>
              <a:srgbClr val="6A1B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1"/>
          <p:cNvSpPr/>
          <p:nvPr/>
        </p:nvSpPr>
        <p:spPr>
          <a:xfrm>
            <a:off x="274358" y="2096302"/>
            <a:ext cx="73200" cy="1234500"/>
          </a:xfrm>
          <a:prstGeom prst="rect">
            <a:avLst/>
          </a:prstGeom>
          <a:solidFill>
            <a:srgbClr val="6A1B9A"/>
          </a:solidFill>
          <a:ln cap="flat" cmpd="sng" w="12700">
            <a:solidFill>
              <a:srgbClr val="6A1B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1"/>
          <p:cNvSpPr/>
          <p:nvPr/>
        </p:nvSpPr>
        <p:spPr>
          <a:xfrm>
            <a:off x="502957" y="2142022"/>
            <a:ext cx="8229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1B9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6A1B9A"/>
                </a:solidFill>
                <a:latin typeface="Calibri"/>
                <a:ea typeface="Calibri"/>
                <a:cs typeface="Calibri"/>
                <a:sym typeface="Calibri"/>
              </a:rPr>
              <a:t>SVM (lineal, RBF, polinomial, sigmoide)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1"/>
          <p:cNvSpPr/>
          <p:nvPr/>
        </p:nvSpPr>
        <p:spPr>
          <a:xfrm>
            <a:off x="502957" y="2480350"/>
            <a:ext cx="82296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Hiperplano de máximo margen con variables de holgura · kernel RBF: κ(xi,xj)=exp(−γ‖xi−xj‖²)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Efectivo en espacios de alta dimensión con pocas muestras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GridSearch sobre C, gamma, degree, coef0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1"/>
          <p:cNvSpPr/>
          <p:nvPr/>
        </p:nvSpPr>
        <p:spPr>
          <a:xfrm>
            <a:off x="274332" y="3377152"/>
            <a:ext cx="8595300" cy="1234500"/>
          </a:xfrm>
          <a:prstGeom prst="rect">
            <a:avLst/>
          </a:prstGeom>
          <a:solidFill>
            <a:srgbClr val="FFF3E0"/>
          </a:solidFill>
          <a:ln cap="flat" cmpd="sng" w="12700">
            <a:solidFill>
              <a:srgbClr val="E651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1"/>
          <p:cNvSpPr/>
          <p:nvPr/>
        </p:nvSpPr>
        <p:spPr>
          <a:xfrm>
            <a:off x="274333" y="3377152"/>
            <a:ext cx="73200" cy="1234500"/>
          </a:xfrm>
          <a:prstGeom prst="rect">
            <a:avLst/>
          </a:prstGeom>
          <a:solidFill>
            <a:srgbClr val="E65100"/>
          </a:solidFill>
          <a:ln cap="flat" cmpd="sng" w="12700">
            <a:solidFill>
              <a:srgbClr val="E651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1"/>
          <p:cNvSpPr/>
          <p:nvPr/>
        </p:nvSpPr>
        <p:spPr>
          <a:xfrm>
            <a:off x="502932" y="3422872"/>
            <a:ext cx="8229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510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65100"/>
                </a:solidFill>
                <a:latin typeface="Calibri"/>
                <a:ea typeface="Calibri"/>
                <a:cs typeface="Calibri"/>
                <a:sym typeface="Calibri"/>
              </a:rPr>
              <a:t>Gradient Boosting &amp; AdaBoost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1"/>
          <p:cNvSpPr/>
          <p:nvPr/>
        </p:nvSpPr>
        <p:spPr>
          <a:xfrm>
            <a:off x="502932" y="3761200"/>
            <a:ext cx="82296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GB: construcción secuencial — cada árbol predice pseudo-residuos del modelo acumulado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AdaBoost: peso adaptativo sobre muestras mal clasificadas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Conf. GB: M=100, η=0,1, dmax=3 · optimizados con GridSearch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1"/>
          <p:cNvSpPr/>
          <p:nvPr/>
        </p:nvSpPr>
        <p:spPr>
          <a:xfrm>
            <a:off x="274320" y="4611645"/>
            <a:ext cx="8595300" cy="502800"/>
          </a:xfrm>
          <a:prstGeom prst="rect">
            <a:avLst/>
          </a:prstGeom>
          <a:solidFill>
            <a:srgbClr val="EEF4FF"/>
          </a:solidFill>
          <a:ln cap="flat" cmpd="sng" w="19050">
            <a:solidFill>
              <a:srgbClr val="3949A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1"/>
          <p:cNvSpPr/>
          <p:nvPr/>
        </p:nvSpPr>
        <p:spPr>
          <a:xfrm>
            <a:off x="457200" y="4648221"/>
            <a:ext cx="82296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SHAP — TreeExplainer sobre el mejor RF: valores Shapley exactos O(T·L·d) · propiedades: eficiencia, simetría, nulidad, aditividad · análisis global + waterfall local (RGPD)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2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6A1B9A"/>
          </a:solidFill>
          <a:ln cap="flat" cmpd="sng" w="12700">
            <a:solidFill>
              <a:srgbClr val="6A1B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2"/>
          <p:cNvSpPr/>
          <p:nvPr/>
        </p:nvSpPr>
        <p:spPr>
          <a:xfrm>
            <a:off x="365760" y="109728"/>
            <a:ext cx="84124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5. Experimentos — GridSearch: Comparativa de Modelos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19" name="Google Shape;319;p12"/>
          <p:cNvGraphicFramePr/>
          <p:nvPr/>
        </p:nvGraphicFramePr>
        <p:xfrm>
          <a:off x="182880" y="8686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{9BA20E25-5E9B-401E-AE2F-8BE1551E54DC}</a:tableStyleId>
              </a:tblPr>
              <a:tblGrid>
                <a:gridCol w="1920250"/>
                <a:gridCol w="1554475"/>
                <a:gridCol w="1371600"/>
                <a:gridCol w="1371600"/>
                <a:gridCol w="1371600"/>
                <a:gridCol w="1188725"/>
              </a:tblGrid>
              <a:tr h="420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Modelo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AUC-ROC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F1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Recall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Precision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Accuracy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148C"/>
                    </a:solidFill>
                  </a:tcPr>
                </a:tc>
              </a:tr>
              <a:tr h="420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Baseline (LogReg)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0,8906 ±0,072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0,7861 ±0,084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0,7511 ±0,110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0,8349 ±0,093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0,8140 ±0,075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A"/>
                    </a:solidFill>
                  </a:tcPr>
                </a:tc>
              </a:tr>
              <a:tr h="420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SVM lineal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7D32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2E7D3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0,9587 ±0,025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0,8727 ±0,067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0,8571 ±0,110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0,8889 ±0,026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0,8833 ±0,040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A"/>
                    </a:solidFill>
                  </a:tcPr>
                </a:tc>
              </a:tr>
              <a:tr h="420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7E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A237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SVM RBF 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62828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C6282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0,9609 ±0,017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0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0,8727 ±0,018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62828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C6282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0,8571 ±0,048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0,8889 ±0,030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0,8833 ±0,008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A"/>
                    </a:solidFill>
                  </a:tcPr>
                </a:tc>
              </a:tr>
              <a:tr h="420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SVM polinomial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0,9386 ±0,026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0,8519 ±0,047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0,8214 ±0,088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0,8846 ±0,048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0,8667 ±0,025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A"/>
                    </a:solidFill>
                  </a:tcPr>
                </a:tc>
              </a:tr>
              <a:tr h="420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SVM sigmoide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0,9576 ±0,028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0,8727 ±0,044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0,8571 ±0,084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0,8889 ±0,027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0,8833 ±0,025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A"/>
                    </a:solidFill>
                  </a:tcPr>
                </a:tc>
              </a:tr>
              <a:tr h="420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Random Forest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0,9269 ±0,024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0,7692 ±0,030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0,7143 ±0,066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0,8333 ±0,028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0,8000 ±0,022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A"/>
                    </a:solidFill>
                  </a:tcPr>
                </a:tc>
              </a:tr>
              <a:tr h="420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Gradient Boosting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0,9196 ±0,021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0,8000 ±0,025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0,7857 ±0,053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0,8148 ±0,024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0,8167 ±0,017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A"/>
                    </a:solidFill>
                  </a:tcPr>
                </a:tc>
              </a:tr>
              <a:tr h="420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AdaBoost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0,9129 ±0,016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0,7778 ±0,020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0,7500 ±0,052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0,8077 ±0,023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0,8000 ±0,014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320" name="Google Shape;320;p12"/>
          <p:cNvSpPr/>
          <p:nvPr/>
        </p:nvSpPr>
        <p:spPr>
          <a:xfrm>
            <a:off x="182880" y="4692472"/>
            <a:ext cx="8778300" cy="411600"/>
          </a:xfrm>
          <a:prstGeom prst="rect">
            <a:avLst/>
          </a:prstGeom>
          <a:solidFill>
            <a:srgbClr val="E8F5E9"/>
          </a:solidFill>
          <a:ln cap="flat" cmpd="sng" w="12700">
            <a:solidFill>
              <a:srgbClr val="66BB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2"/>
          <p:cNvSpPr/>
          <p:nvPr/>
        </p:nvSpPr>
        <p:spPr>
          <a:xfrm>
            <a:off x="320040" y="4724542"/>
            <a:ext cx="85038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5E2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5E20"/>
                </a:solidFill>
                <a:latin typeface="Calibri"/>
                <a:ea typeface="Calibri"/>
                <a:cs typeface="Calibri"/>
                <a:sym typeface="Calibri"/>
              </a:rPr>
              <a:t>SVM RBF: mejor modelo — AUC-ROC 0,9609 · Recall 0,8571 · supera baseline en +10,6 pp en Recall · baja varianza (±0,017)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3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6A1B9A"/>
          </a:solidFill>
          <a:ln cap="flat" cmpd="sng" w="12700">
            <a:solidFill>
              <a:srgbClr val="6A1B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3"/>
          <p:cNvSpPr/>
          <p:nvPr/>
        </p:nvSpPr>
        <p:spPr>
          <a:xfrm>
            <a:off x="365760" y="109728"/>
            <a:ext cx="84124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5. Experimentos — Comparativa Visual de Métricas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3"/>
          <p:cNvSpPr/>
          <p:nvPr/>
        </p:nvSpPr>
        <p:spPr>
          <a:xfrm>
            <a:off x="155775" y="987400"/>
            <a:ext cx="8778300" cy="4085100"/>
          </a:xfrm>
          <a:prstGeom prst="rect">
            <a:avLst/>
          </a:prstGeom>
          <a:solidFill>
            <a:srgbClr val="EEF4FF"/>
          </a:solidFill>
          <a:ln cap="flat" cmpd="sng" w="12700">
            <a:solidFill>
              <a:srgbClr val="BBDE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3"/>
          <p:cNvSpPr/>
          <p:nvPr/>
        </p:nvSpPr>
        <p:spPr>
          <a:xfrm>
            <a:off x="247215" y="1114156"/>
            <a:ext cx="8412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Fig. 5 — Comparativa de métricas (barras de error: desviación estándar, CV=5)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31" name="Google Shape;331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225" y="1388350"/>
            <a:ext cx="8595349" cy="3492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e28f220edb_1_0"/>
          <p:cNvSpPr/>
          <p:nvPr/>
        </p:nvSpPr>
        <p:spPr>
          <a:xfrm>
            <a:off x="0" y="0"/>
            <a:ext cx="9144000" cy="777300"/>
          </a:xfrm>
          <a:prstGeom prst="rect">
            <a:avLst/>
          </a:prstGeom>
          <a:solidFill>
            <a:srgbClr val="6A1B9A"/>
          </a:solidFill>
          <a:ln cap="flat" cmpd="sng" w="12700">
            <a:solidFill>
              <a:srgbClr val="6A1B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g3e28f220edb_1_0"/>
          <p:cNvSpPr/>
          <p:nvPr/>
        </p:nvSpPr>
        <p:spPr>
          <a:xfrm>
            <a:off x="365760" y="109728"/>
            <a:ext cx="84126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5. Experimentos — Comparativa Visual de Métricas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g3e28f220edb_1_0"/>
          <p:cNvSpPr/>
          <p:nvPr/>
        </p:nvSpPr>
        <p:spPr>
          <a:xfrm>
            <a:off x="182900" y="997200"/>
            <a:ext cx="8778300" cy="4021500"/>
          </a:xfrm>
          <a:prstGeom prst="rect">
            <a:avLst/>
          </a:prstGeom>
          <a:solidFill>
            <a:srgbClr val="EEF4FF"/>
          </a:solidFill>
          <a:ln cap="flat" cmpd="sng" w="12700">
            <a:solidFill>
              <a:srgbClr val="BBDE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g3e28f220edb_1_0"/>
          <p:cNvSpPr/>
          <p:nvPr/>
        </p:nvSpPr>
        <p:spPr>
          <a:xfrm>
            <a:off x="320050" y="1030376"/>
            <a:ext cx="8412600" cy="28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Fig. 6 — Mapa de calor de métricas (verde=alto, amarillo=bajo)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41" name="Google Shape;341;g3e28f220edb_1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75" y="1317175"/>
            <a:ext cx="8595350" cy="3593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14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6A1B9A"/>
          </a:solidFill>
          <a:ln cap="flat" cmpd="sng" w="12700">
            <a:solidFill>
              <a:srgbClr val="6A1B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14"/>
          <p:cNvSpPr/>
          <p:nvPr/>
        </p:nvSpPr>
        <p:spPr>
          <a:xfrm>
            <a:off x="365760" y="109728"/>
            <a:ext cx="84124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5. Experimentos — Ranking y Variabilidad Inter-fold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4"/>
          <p:cNvSpPr/>
          <p:nvPr/>
        </p:nvSpPr>
        <p:spPr>
          <a:xfrm>
            <a:off x="182870" y="868671"/>
            <a:ext cx="8595300" cy="4036500"/>
          </a:xfrm>
          <a:prstGeom prst="rect">
            <a:avLst/>
          </a:prstGeom>
          <a:solidFill>
            <a:srgbClr val="EEF4FF"/>
          </a:solidFill>
          <a:ln cap="flat" cmpd="sng" w="12700">
            <a:solidFill>
              <a:srgbClr val="BBDE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14"/>
          <p:cNvSpPr/>
          <p:nvPr/>
        </p:nvSpPr>
        <p:spPr>
          <a:xfrm>
            <a:off x="320040" y="886968"/>
            <a:ext cx="4114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Fig. 7 — Ranking por AUC-ROC (umbral 0,90 en rojo)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51" name="Google Shape;35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2554" y="1179579"/>
            <a:ext cx="7898901" cy="3537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e28f220edb_1_12"/>
          <p:cNvSpPr/>
          <p:nvPr/>
        </p:nvSpPr>
        <p:spPr>
          <a:xfrm>
            <a:off x="0" y="0"/>
            <a:ext cx="9144000" cy="777300"/>
          </a:xfrm>
          <a:prstGeom prst="rect">
            <a:avLst/>
          </a:prstGeom>
          <a:solidFill>
            <a:srgbClr val="6A1B9A"/>
          </a:solidFill>
          <a:ln cap="flat" cmpd="sng" w="12700">
            <a:solidFill>
              <a:srgbClr val="6A1B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g3e28f220edb_1_12"/>
          <p:cNvSpPr/>
          <p:nvPr/>
        </p:nvSpPr>
        <p:spPr>
          <a:xfrm>
            <a:off x="365760" y="109728"/>
            <a:ext cx="84126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5. Experimentos — Ranking y Variabilidad Inter-fold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g3e28f220edb_1_12"/>
          <p:cNvSpPr/>
          <p:nvPr/>
        </p:nvSpPr>
        <p:spPr>
          <a:xfrm>
            <a:off x="365750" y="868675"/>
            <a:ext cx="8595600" cy="4123200"/>
          </a:xfrm>
          <a:prstGeom prst="rect">
            <a:avLst/>
          </a:prstGeom>
          <a:solidFill>
            <a:srgbClr val="EEF4FF"/>
          </a:solidFill>
          <a:ln cap="flat" cmpd="sng" w="22900">
            <a:solidFill>
              <a:srgbClr val="BBDE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64900" lIns="164900" spcFirstLastPara="1" rIns="164900" wrap="square" tIns="164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g3e28f220edb_1_12"/>
          <p:cNvSpPr/>
          <p:nvPr/>
        </p:nvSpPr>
        <p:spPr>
          <a:xfrm>
            <a:off x="459250" y="965356"/>
            <a:ext cx="4114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Fig. 8 — Distribución AUC-ROC, F1 y Recall en 5 folds CV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61" name="Google Shape;361;g3e28f220edb_1_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2000" y="1299575"/>
            <a:ext cx="8236347" cy="3567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e28f220edb_1_43"/>
          <p:cNvSpPr/>
          <p:nvPr/>
        </p:nvSpPr>
        <p:spPr>
          <a:xfrm>
            <a:off x="0" y="0"/>
            <a:ext cx="9144000" cy="777300"/>
          </a:xfrm>
          <a:prstGeom prst="rect">
            <a:avLst/>
          </a:prstGeom>
          <a:solidFill>
            <a:srgbClr val="6A1B9A"/>
          </a:solidFill>
          <a:ln cap="flat" cmpd="sng" w="12700">
            <a:solidFill>
              <a:srgbClr val="6A1B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g3e28f220edb_1_43"/>
          <p:cNvSpPr/>
          <p:nvPr/>
        </p:nvSpPr>
        <p:spPr>
          <a:xfrm>
            <a:off x="365760" y="109728"/>
            <a:ext cx="84126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5. Experimentos — Ranking y Variabilidad Inter-fold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g3e28f220edb_1_43"/>
          <p:cNvSpPr/>
          <p:nvPr/>
        </p:nvSpPr>
        <p:spPr>
          <a:xfrm>
            <a:off x="1398155" y="1332902"/>
            <a:ext cx="6347700" cy="4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7500" lIns="135025" spcFirstLastPara="1" rIns="135025" wrap="square" tIns="67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772"/>
              <a:buFont typeface="Calibri"/>
              <a:buNone/>
            </a:pPr>
            <a:r>
              <a:rPr b="1" i="0" lang="en-US" sz="1772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Mejores hiperparámetros (GridSearch):</a:t>
            </a:r>
            <a:endParaRPr b="0" i="0" sz="177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g3e28f220edb_1_43"/>
          <p:cNvSpPr/>
          <p:nvPr/>
        </p:nvSpPr>
        <p:spPr>
          <a:xfrm>
            <a:off x="1398155" y="1886630"/>
            <a:ext cx="6347700" cy="499800"/>
          </a:xfrm>
          <a:prstGeom prst="rect">
            <a:avLst/>
          </a:prstGeom>
          <a:solidFill>
            <a:srgbClr val="F5F5F5"/>
          </a:solidFill>
          <a:ln cap="flat" cmpd="sng" w="1407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35025" lIns="135025" spcFirstLastPara="1" rIns="135025" wrap="square" tIns="135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g3e28f220edb_1_43"/>
          <p:cNvSpPr/>
          <p:nvPr/>
        </p:nvSpPr>
        <p:spPr>
          <a:xfrm>
            <a:off x="1533210" y="1913641"/>
            <a:ext cx="27012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7500" lIns="135025" spcFirstLastPara="1" rIns="135025" wrap="square" tIns="67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551"/>
              <a:buFont typeface="Calibri"/>
              <a:buNone/>
            </a:pPr>
            <a:r>
              <a:rPr b="1" i="0" lang="en-US" sz="1551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SVM RBF</a:t>
            </a:r>
            <a:endParaRPr b="0" i="0" sz="155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g3e28f220edb_1_43"/>
          <p:cNvSpPr/>
          <p:nvPr/>
        </p:nvSpPr>
        <p:spPr>
          <a:xfrm>
            <a:off x="4301843" y="1913641"/>
            <a:ext cx="33090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7500" lIns="135025" spcFirstLastPara="1" rIns="135025" wrap="square" tIns="67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551"/>
              <a:buFont typeface="Calibri"/>
              <a:buNone/>
            </a:pPr>
            <a:r>
              <a:rPr b="0" i="0" lang="en-US" sz="1551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C=1, gamma=0,01</a:t>
            </a:r>
            <a:endParaRPr b="0" i="0" sz="155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g3e28f220edb_1_43"/>
          <p:cNvSpPr/>
          <p:nvPr/>
        </p:nvSpPr>
        <p:spPr>
          <a:xfrm>
            <a:off x="1398155" y="2426851"/>
            <a:ext cx="6347700" cy="499800"/>
          </a:xfrm>
          <a:prstGeom prst="rect">
            <a:avLst/>
          </a:prstGeom>
          <a:solidFill>
            <a:srgbClr val="FAFAFA"/>
          </a:solidFill>
          <a:ln cap="flat" cmpd="sng" w="1407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35025" lIns="135025" spcFirstLastPara="1" rIns="135025" wrap="square" tIns="135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g3e28f220edb_1_43"/>
          <p:cNvSpPr/>
          <p:nvPr/>
        </p:nvSpPr>
        <p:spPr>
          <a:xfrm>
            <a:off x="1533210" y="2453862"/>
            <a:ext cx="27012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7500" lIns="135025" spcFirstLastPara="1" rIns="135025" wrap="square" tIns="67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551"/>
              <a:buFont typeface="Calibri"/>
              <a:buNone/>
            </a:pPr>
            <a:r>
              <a:rPr b="1" i="0" lang="en-US" sz="1551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SVM lineal</a:t>
            </a:r>
            <a:endParaRPr b="0" i="0" sz="155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g3e28f220edb_1_43"/>
          <p:cNvSpPr/>
          <p:nvPr/>
        </p:nvSpPr>
        <p:spPr>
          <a:xfrm>
            <a:off x="4301843" y="2453862"/>
            <a:ext cx="33090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7500" lIns="135025" spcFirstLastPara="1" rIns="135025" wrap="square" tIns="67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551"/>
              <a:buFont typeface="Calibri"/>
              <a:buNone/>
            </a:pPr>
            <a:r>
              <a:rPr b="0" i="0" lang="en-US" sz="1551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C=0,01</a:t>
            </a:r>
            <a:endParaRPr b="0" i="0" sz="155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g3e28f220edb_1_43"/>
          <p:cNvSpPr/>
          <p:nvPr/>
        </p:nvSpPr>
        <p:spPr>
          <a:xfrm>
            <a:off x="1398155" y="2967073"/>
            <a:ext cx="6347700" cy="499800"/>
          </a:xfrm>
          <a:prstGeom prst="rect">
            <a:avLst/>
          </a:prstGeom>
          <a:solidFill>
            <a:srgbClr val="F5F5F5"/>
          </a:solidFill>
          <a:ln cap="flat" cmpd="sng" w="1407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35025" lIns="135025" spcFirstLastPara="1" rIns="135025" wrap="square" tIns="135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g3e28f220edb_1_43"/>
          <p:cNvSpPr/>
          <p:nvPr/>
        </p:nvSpPr>
        <p:spPr>
          <a:xfrm>
            <a:off x="1533210" y="2994084"/>
            <a:ext cx="27012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7500" lIns="135025" spcFirstLastPara="1" rIns="135025" wrap="square" tIns="67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551"/>
              <a:buFont typeface="Calibri"/>
              <a:buNone/>
            </a:pPr>
            <a:r>
              <a:rPr b="1" i="0" lang="en-US" sz="1551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Random Forest</a:t>
            </a:r>
            <a:endParaRPr b="0" i="0" sz="155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g3e28f220edb_1_43"/>
          <p:cNvSpPr/>
          <p:nvPr/>
        </p:nvSpPr>
        <p:spPr>
          <a:xfrm>
            <a:off x="4301843" y="2994084"/>
            <a:ext cx="33090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7500" lIns="135025" spcFirstLastPara="1" rIns="135025" wrap="square" tIns="67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551"/>
              <a:buFont typeface="Calibri"/>
              <a:buNone/>
            </a:pPr>
            <a:r>
              <a:rPr b="0" i="0" lang="en-US" sz="1551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n_est=200, sqrt</a:t>
            </a:r>
            <a:endParaRPr b="0" i="0" sz="155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g3e28f220edb_1_43"/>
          <p:cNvSpPr/>
          <p:nvPr/>
        </p:nvSpPr>
        <p:spPr>
          <a:xfrm>
            <a:off x="1398155" y="3507294"/>
            <a:ext cx="6347700" cy="499800"/>
          </a:xfrm>
          <a:prstGeom prst="rect">
            <a:avLst/>
          </a:prstGeom>
          <a:solidFill>
            <a:srgbClr val="FAFAFA"/>
          </a:solidFill>
          <a:ln cap="flat" cmpd="sng" w="1407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35025" lIns="135025" spcFirstLastPara="1" rIns="135025" wrap="square" tIns="135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g3e28f220edb_1_43"/>
          <p:cNvSpPr/>
          <p:nvPr/>
        </p:nvSpPr>
        <p:spPr>
          <a:xfrm>
            <a:off x="1533210" y="3534306"/>
            <a:ext cx="27012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7500" lIns="135025" spcFirstLastPara="1" rIns="135025" wrap="square" tIns="67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551"/>
              <a:buFont typeface="Calibri"/>
              <a:buNone/>
            </a:pPr>
            <a:r>
              <a:rPr b="1" i="0" lang="en-US" sz="1551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Grad. Boosting</a:t>
            </a:r>
            <a:endParaRPr b="0" i="0" sz="155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g3e28f220edb_1_43"/>
          <p:cNvSpPr/>
          <p:nvPr/>
        </p:nvSpPr>
        <p:spPr>
          <a:xfrm>
            <a:off x="4301843" y="3534306"/>
            <a:ext cx="33090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7500" lIns="135025" spcFirstLastPara="1" rIns="135025" wrap="square" tIns="67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551"/>
              <a:buFont typeface="Calibri"/>
              <a:buNone/>
            </a:pPr>
            <a:r>
              <a:rPr b="0" i="0" lang="en-US" sz="1551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lr=0,01, depth=3</a:t>
            </a:r>
            <a:endParaRPr b="0" i="0" sz="155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g3e28f220edb_1_43"/>
          <p:cNvSpPr/>
          <p:nvPr/>
        </p:nvSpPr>
        <p:spPr>
          <a:xfrm>
            <a:off x="1398155" y="4047516"/>
            <a:ext cx="6347700" cy="499800"/>
          </a:xfrm>
          <a:prstGeom prst="rect">
            <a:avLst/>
          </a:prstGeom>
          <a:solidFill>
            <a:srgbClr val="F5F5F5"/>
          </a:solidFill>
          <a:ln cap="flat" cmpd="sng" w="1407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35025" lIns="135025" spcFirstLastPara="1" rIns="135025" wrap="square" tIns="135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g3e28f220edb_1_43"/>
          <p:cNvSpPr/>
          <p:nvPr/>
        </p:nvSpPr>
        <p:spPr>
          <a:xfrm>
            <a:off x="1533210" y="4074527"/>
            <a:ext cx="27012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7500" lIns="135025" spcFirstLastPara="1" rIns="135025" wrap="square" tIns="67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551"/>
              <a:buFont typeface="Calibri"/>
              <a:buNone/>
            </a:pPr>
            <a:r>
              <a:rPr b="1" i="0" lang="en-US" sz="1551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AdaBoost</a:t>
            </a:r>
            <a:endParaRPr b="0" i="0" sz="155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g3e28f220edb_1_43"/>
          <p:cNvSpPr/>
          <p:nvPr/>
        </p:nvSpPr>
        <p:spPr>
          <a:xfrm>
            <a:off x="4301843" y="4074527"/>
            <a:ext cx="33090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7500" lIns="135025" spcFirstLastPara="1" rIns="135025" wrap="square" tIns="67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551"/>
              <a:buFont typeface="Calibri"/>
              <a:buNone/>
            </a:pPr>
            <a:r>
              <a:rPr b="0" i="0" lang="en-US" sz="1551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depth=2, lr=0,1</a:t>
            </a:r>
            <a:endParaRPr b="0" i="0" sz="155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15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E65100"/>
          </a:solidFill>
          <a:ln cap="flat" cmpd="sng" w="12700">
            <a:solidFill>
              <a:srgbClr val="E651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15"/>
          <p:cNvSpPr/>
          <p:nvPr/>
        </p:nvSpPr>
        <p:spPr>
          <a:xfrm>
            <a:off x="365760" y="109728"/>
            <a:ext cx="84124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5. Explicabilidad — Análisis SHAP Global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5"/>
          <p:cNvSpPr/>
          <p:nvPr/>
        </p:nvSpPr>
        <p:spPr>
          <a:xfrm>
            <a:off x="182880" y="841248"/>
            <a:ext cx="4480560" cy="3977640"/>
          </a:xfrm>
          <a:prstGeom prst="rect">
            <a:avLst/>
          </a:prstGeom>
          <a:solidFill>
            <a:srgbClr val="EEF4FF"/>
          </a:solidFill>
          <a:ln cap="flat" cmpd="sng" w="12700">
            <a:solidFill>
              <a:srgbClr val="BBDE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15"/>
          <p:cNvSpPr/>
          <p:nvPr/>
        </p:nvSpPr>
        <p:spPr>
          <a:xfrm>
            <a:off x="320040" y="859536"/>
            <a:ext cx="4297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Fig. 10 — SHAP Summary Plot (beeswarm)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Rojo=valor alto · Azul=valor bajo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5"/>
          <p:cNvSpPr/>
          <p:nvPr/>
        </p:nvSpPr>
        <p:spPr>
          <a:xfrm>
            <a:off x="4846320" y="841248"/>
            <a:ext cx="4114800" cy="3977640"/>
          </a:xfrm>
          <a:prstGeom prst="rect">
            <a:avLst/>
          </a:prstGeom>
          <a:solidFill>
            <a:srgbClr val="EEF4FF"/>
          </a:solidFill>
          <a:ln cap="flat" cmpd="sng" w="12700">
            <a:solidFill>
              <a:srgbClr val="BBDE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15"/>
          <p:cNvSpPr/>
          <p:nvPr/>
        </p:nvSpPr>
        <p:spPr>
          <a:xfrm>
            <a:off x="4983480" y="859536"/>
            <a:ext cx="3931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Fig. 11 — Importancia global (mean |SHAP|)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96" name="Google Shape;39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37760" y="1234440"/>
            <a:ext cx="3931920" cy="34747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7" name="Google Shape;397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8000" y="1285475"/>
            <a:ext cx="3554860" cy="35021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16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E65100"/>
          </a:solidFill>
          <a:ln cap="flat" cmpd="sng" w="12700">
            <a:solidFill>
              <a:srgbClr val="E651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16"/>
          <p:cNvSpPr/>
          <p:nvPr/>
        </p:nvSpPr>
        <p:spPr>
          <a:xfrm>
            <a:off x="365760" y="109728"/>
            <a:ext cx="84124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5. Explicabilidad — SHAP Dependence Plots y Waterfall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6"/>
          <p:cNvSpPr/>
          <p:nvPr/>
        </p:nvSpPr>
        <p:spPr>
          <a:xfrm>
            <a:off x="182875" y="868675"/>
            <a:ext cx="5074800" cy="3497100"/>
          </a:xfrm>
          <a:prstGeom prst="rect">
            <a:avLst/>
          </a:prstGeom>
          <a:solidFill>
            <a:srgbClr val="EEF4FF"/>
          </a:solidFill>
          <a:ln cap="flat" cmpd="sng" w="12700">
            <a:solidFill>
              <a:srgbClr val="BBDE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16"/>
          <p:cNvSpPr/>
          <p:nvPr/>
        </p:nvSpPr>
        <p:spPr>
          <a:xfrm>
            <a:off x="320040" y="886968"/>
            <a:ext cx="4937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Fig. 12 — SHAP Dependence Plots: top 4 características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6"/>
          <p:cNvSpPr/>
          <p:nvPr/>
        </p:nvSpPr>
        <p:spPr>
          <a:xfrm>
            <a:off x="5440680" y="868680"/>
            <a:ext cx="3520440" cy="3200400"/>
          </a:xfrm>
          <a:prstGeom prst="rect">
            <a:avLst/>
          </a:prstGeom>
          <a:solidFill>
            <a:srgbClr val="EEF4FF"/>
          </a:solidFill>
          <a:ln cap="flat" cmpd="sng" w="12700">
            <a:solidFill>
              <a:srgbClr val="BBDE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16"/>
          <p:cNvSpPr/>
          <p:nvPr/>
        </p:nvSpPr>
        <p:spPr>
          <a:xfrm>
            <a:off x="5577840" y="886968"/>
            <a:ext cx="3291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Fig. 13 — Waterfall: Paciente 0 (real: sano)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09" name="Google Shape;40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0" y="1207008"/>
            <a:ext cx="3383280" cy="2798064"/>
          </a:xfrm>
          <a:prstGeom prst="rect">
            <a:avLst/>
          </a:prstGeom>
          <a:noFill/>
          <a:ln>
            <a:noFill/>
          </a:ln>
        </p:spPr>
      </p:pic>
      <p:pic>
        <p:nvPicPr>
          <p:cNvPr id="410" name="Google Shape;410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5750" y="1176000"/>
            <a:ext cx="4796700" cy="2861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17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695C"/>
          </a:solidFill>
          <a:ln cap="flat" cmpd="sng" w="12700">
            <a:solidFill>
              <a:srgbClr val="0069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17"/>
          <p:cNvSpPr/>
          <p:nvPr/>
        </p:nvSpPr>
        <p:spPr>
          <a:xfrm>
            <a:off x="365760" y="109728"/>
            <a:ext cx="84124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5. Experimentos — Curvas de Privacidad–Utilidad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7"/>
          <p:cNvSpPr/>
          <p:nvPr/>
        </p:nvSpPr>
        <p:spPr>
          <a:xfrm>
            <a:off x="274320" y="868680"/>
            <a:ext cx="8595360" cy="457200"/>
          </a:xfrm>
          <a:prstGeom prst="rect">
            <a:avLst/>
          </a:prstGeom>
          <a:solidFill>
            <a:srgbClr val="E0F2F1"/>
          </a:solidFill>
          <a:ln cap="flat" cmpd="sng" w="12700">
            <a:solidFill>
              <a:srgbClr val="4DB6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17"/>
          <p:cNvSpPr/>
          <p:nvPr/>
        </p:nvSpPr>
        <p:spPr>
          <a:xfrm>
            <a:off x="457200" y="896112"/>
            <a:ext cx="8321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95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0695C"/>
                </a:solidFill>
                <a:latin typeface="Calibri"/>
                <a:ea typeface="Calibri"/>
                <a:cs typeface="Calibri"/>
                <a:sym typeface="Calibri"/>
              </a:rPr>
              <a:t>Método: ruido gaussiano diferencial σ=Δf/ε añadido al conjunto de entrenamiento · 10 realizaciones independientes por nivel de ε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7"/>
          <p:cNvSpPr/>
          <p:nvPr/>
        </p:nvSpPr>
        <p:spPr>
          <a:xfrm>
            <a:off x="182880" y="1389888"/>
            <a:ext cx="4389120" cy="3017520"/>
          </a:xfrm>
          <a:prstGeom prst="rect">
            <a:avLst/>
          </a:prstGeom>
          <a:solidFill>
            <a:srgbClr val="EEF4FF"/>
          </a:solidFill>
          <a:ln cap="flat" cmpd="sng" w="12700">
            <a:solidFill>
              <a:srgbClr val="BBDE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17"/>
          <p:cNvSpPr/>
          <p:nvPr/>
        </p:nvSpPr>
        <p:spPr>
          <a:xfrm>
            <a:off x="320040" y="1408176"/>
            <a:ext cx="4206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Fig. 14 — Privacidad-Utilidad: Random Forest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Línea verde = AUC sin ruido (0,9213)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22" name="Google Shape;42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1828800"/>
            <a:ext cx="4297680" cy="2523744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17"/>
          <p:cNvSpPr/>
          <p:nvPr/>
        </p:nvSpPr>
        <p:spPr>
          <a:xfrm>
            <a:off x="4754880" y="1389888"/>
            <a:ext cx="4206240" cy="3017520"/>
          </a:xfrm>
          <a:prstGeom prst="rect">
            <a:avLst/>
          </a:prstGeom>
          <a:solidFill>
            <a:srgbClr val="EEF4FF"/>
          </a:solidFill>
          <a:ln cap="flat" cmpd="sng" w="12700">
            <a:solidFill>
              <a:srgbClr val="BBDE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17"/>
          <p:cNvSpPr/>
          <p:nvPr/>
        </p:nvSpPr>
        <p:spPr>
          <a:xfrm>
            <a:off x="4892040" y="1408176"/>
            <a:ext cx="4023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Fig. 15 — Comparativa: Baseline, RF, GB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Mayor ε = menor privacidad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25" name="Google Shape;425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46320" y="1828800"/>
            <a:ext cx="4114800" cy="2523744"/>
          </a:xfrm>
          <a:prstGeom prst="rect">
            <a:avLst/>
          </a:prstGeom>
          <a:noFill/>
          <a:ln>
            <a:noFill/>
          </a:ln>
        </p:spPr>
      </p:pic>
      <p:sp>
        <p:nvSpPr>
          <p:cNvPr id="426" name="Google Shape;426;p17"/>
          <p:cNvSpPr/>
          <p:nvPr/>
        </p:nvSpPr>
        <p:spPr>
          <a:xfrm>
            <a:off x="182880" y="4498848"/>
            <a:ext cx="8778240" cy="548640"/>
          </a:xfrm>
          <a:prstGeom prst="rect">
            <a:avLst/>
          </a:prstGeom>
          <a:solidFill>
            <a:srgbClr val="E0F2F1"/>
          </a:solidFill>
          <a:ln cap="flat" cmpd="sng" w="19050">
            <a:solidFill>
              <a:srgbClr val="0069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17"/>
          <p:cNvSpPr/>
          <p:nvPr/>
        </p:nvSpPr>
        <p:spPr>
          <a:xfrm>
            <a:off x="365760" y="4535424"/>
            <a:ext cx="8412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95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695C"/>
                </a:solidFill>
                <a:latin typeface="Calibri"/>
                <a:ea typeface="Calibri"/>
                <a:cs typeface="Calibri"/>
                <a:sym typeface="Calibri"/>
              </a:rPr>
              <a:t>→ AUC-ROC cae para ε ≤ 0,</a:t>
            </a:r>
            <a:r>
              <a:rPr b="1" lang="en-US" sz="1200">
                <a:solidFill>
                  <a:srgbClr val="00695C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r>
              <a:rPr b="1" i="0" lang="en-US" sz="1200" u="none" cap="none" strike="noStrike">
                <a:solidFill>
                  <a:srgbClr val="00695C"/>
                </a:solidFill>
                <a:latin typeface="Calibri"/>
                <a:ea typeface="Calibri"/>
                <a:cs typeface="Calibri"/>
                <a:sym typeface="Calibri"/>
              </a:rPr>
              <a:t> · Se estabiliza &gt;0,</a:t>
            </a:r>
            <a:r>
              <a:rPr b="1" lang="en-US" sz="1200">
                <a:solidFill>
                  <a:srgbClr val="00695C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r>
              <a:rPr b="1" i="0" lang="en-US" sz="1200" u="none" cap="none" strike="noStrike">
                <a:solidFill>
                  <a:srgbClr val="00695C"/>
                </a:solidFill>
                <a:latin typeface="Calibri"/>
                <a:ea typeface="Calibri"/>
                <a:cs typeface="Calibri"/>
                <a:sym typeface="Calibri"/>
              </a:rPr>
              <a:t> para ε ≥ </a:t>
            </a:r>
            <a:r>
              <a:rPr b="1" lang="en-US" sz="1200">
                <a:solidFill>
                  <a:srgbClr val="00695C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r>
              <a:rPr b="1" i="0" lang="en-US" sz="1200" u="none" cap="none" strike="noStrike">
                <a:solidFill>
                  <a:srgbClr val="00695C"/>
                </a:solidFill>
                <a:latin typeface="Calibri"/>
                <a:ea typeface="Calibri"/>
                <a:cs typeface="Calibri"/>
                <a:sym typeface="Calibri"/>
              </a:rPr>
              <a:t> · Privacidad diferencial moderada viable sin degradación significativa del rendimiento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18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B71C1C"/>
          </a:solidFill>
          <a:ln cap="flat" cmpd="sng" w="12700">
            <a:solidFill>
              <a:srgbClr val="B71C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18"/>
          <p:cNvSpPr/>
          <p:nvPr/>
        </p:nvSpPr>
        <p:spPr>
          <a:xfrm>
            <a:off x="365760" y="109728"/>
            <a:ext cx="84124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5. Análisis de Fairness — Sesgo por Sexo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8"/>
          <p:cNvSpPr/>
          <p:nvPr/>
        </p:nvSpPr>
        <p:spPr>
          <a:xfrm>
            <a:off x="274320" y="868680"/>
            <a:ext cx="8595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Métricas por grupo sensible (sexo) en test: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36" name="Google Shape;436;p18"/>
          <p:cNvGraphicFramePr/>
          <p:nvPr/>
        </p:nvGraphicFramePr>
        <p:xfrm>
          <a:off x="182880" y="120700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{9BA20E25-5E9B-401E-AE2F-8BE1551E54DC}</a:tableStyleId>
              </a:tblPr>
              <a:tblGrid>
                <a:gridCol w="2011675"/>
                <a:gridCol w="1371600"/>
                <a:gridCol w="1463050"/>
                <a:gridCol w="1463050"/>
                <a:gridCol w="1371600"/>
                <a:gridCol w="1097275"/>
              </a:tblGrid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Modelo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FFCD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CD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CD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CD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1C1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AUC Global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FFCD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CD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CD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CD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1C1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AUC Mujeres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FFCD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CD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CD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CD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1C1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AUC Hombres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FFCD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CD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CD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CD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1C1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F1 Mujeres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FFCD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CD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CD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CD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1C1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F1 Hombres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FFCD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CD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CD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CD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1C1C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Baseline (LogReg)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FFCD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CD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CD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CD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0,9498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FFCD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CD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CD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CD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1,0000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FFCD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CD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CD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CD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0,9075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FFCD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CD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CD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CD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0,8000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FFCD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CD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CD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CD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0,8571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FFCD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CD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CD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CD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5F5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SVM RBF 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FFCD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CD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CD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CD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0,9609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FFCD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CD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CD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CD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1,0000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FFCD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CD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CD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CD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0,9350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FFCD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CD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CD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CD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1,0000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FFCD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CD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CD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CD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0,8571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FFCD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CD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CD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CD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5F5"/>
                    </a:solidFill>
                  </a:tcPr>
                </a:tc>
              </a:tr>
            </a:tbl>
          </a:graphicData>
        </a:graphic>
      </p:graphicFrame>
      <p:sp>
        <p:nvSpPr>
          <p:cNvPr id="437" name="Google Shape;437;p18"/>
          <p:cNvSpPr/>
          <p:nvPr/>
        </p:nvSpPr>
        <p:spPr>
          <a:xfrm>
            <a:off x="274320" y="2359152"/>
            <a:ext cx="8595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Indicadores de equidad (ideal → 0 para diferencias, ideal → 1 para ratio):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8"/>
          <p:cNvSpPr/>
          <p:nvPr/>
        </p:nvSpPr>
        <p:spPr>
          <a:xfrm>
            <a:off x="182880" y="2761488"/>
            <a:ext cx="8778240" cy="420624"/>
          </a:xfrm>
          <a:prstGeom prst="rect">
            <a:avLst/>
          </a:prstGeom>
          <a:solidFill>
            <a:srgbClr val="FFF5F5"/>
          </a:solidFill>
          <a:ln cap="flat" cmpd="sng" w="9525">
            <a:solidFill>
              <a:srgbClr val="FFCD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18"/>
          <p:cNvSpPr/>
          <p:nvPr/>
        </p:nvSpPr>
        <p:spPr>
          <a:xfrm>
            <a:off x="274320" y="2788920"/>
            <a:ext cx="4114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Demographic Parity Difference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8"/>
          <p:cNvSpPr/>
          <p:nvPr/>
        </p:nvSpPr>
        <p:spPr>
          <a:xfrm>
            <a:off x="4434840" y="2788920"/>
            <a:ext cx="1188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909C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78909C"/>
                </a:solidFill>
                <a:latin typeface="Calibri"/>
                <a:ea typeface="Calibri"/>
                <a:cs typeface="Calibri"/>
                <a:sym typeface="Calibri"/>
              </a:rPr>
              <a:t>Ideal: ↓ 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8"/>
          <p:cNvSpPr/>
          <p:nvPr/>
        </p:nvSpPr>
        <p:spPr>
          <a:xfrm>
            <a:off x="5669280" y="2788920"/>
            <a:ext cx="1554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6282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62828"/>
                </a:solidFill>
                <a:latin typeface="Calibri"/>
                <a:ea typeface="Calibri"/>
                <a:cs typeface="Calibri"/>
                <a:sym typeface="Calibri"/>
              </a:rPr>
              <a:t>Baseline: 0,4801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8"/>
          <p:cNvSpPr/>
          <p:nvPr/>
        </p:nvSpPr>
        <p:spPr>
          <a:xfrm>
            <a:off x="7269480" y="2788920"/>
            <a:ext cx="1554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D1457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AD1457"/>
                </a:solidFill>
                <a:latin typeface="Calibri"/>
                <a:ea typeface="Calibri"/>
                <a:cs typeface="Calibri"/>
                <a:sym typeface="Calibri"/>
              </a:rPr>
              <a:t>SVM: 0,4275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8"/>
          <p:cNvSpPr/>
          <p:nvPr/>
        </p:nvSpPr>
        <p:spPr>
          <a:xfrm>
            <a:off x="182880" y="3218688"/>
            <a:ext cx="8778240" cy="420624"/>
          </a:xfrm>
          <a:prstGeom prst="rect">
            <a:avLst/>
          </a:prstGeom>
          <a:solidFill>
            <a:srgbClr val="FFEBEE"/>
          </a:solidFill>
          <a:ln cap="flat" cmpd="sng" w="9525">
            <a:solidFill>
              <a:srgbClr val="FFCD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18"/>
          <p:cNvSpPr/>
          <p:nvPr/>
        </p:nvSpPr>
        <p:spPr>
          <a:xfrm>
            <a:off x="274320" y="3246120"/>
            <a:ext cx="4114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Equal Opportunity Difference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8"/>
          <p:cNvSpPr/>
          <p:nvPr/>
        </p:nvSpPr>
        <p:spPr>
          <a:xfrm>
            <a:off x="4434840" y="3246120"/>
            <a:ext cx="1188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909C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78909C"/>
                </a:solidFill>
                <a:latin typeface="Calibri"/>
                <a:ea typeface="Calibri"/>
                <a:cs typeface="Calibri"/>
                <a:sym typeface="Calibri"/>
              </a:rPr>
              <a:t>Ideal: ↓ 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8"/>
          <p:cNvSpPr/>
          <p:nvPr/>
        </p:nvSpPr>
        <p:spPr>
          <a:xfrm>
            <a:off x="5669280" y="3246120"/>
            <a:ext cx="1554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6282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62828"/>
                </a:solidFill>
                <a:latin typeface="Calibri"/>
                <a:ea typeface="Calibri"/>
                <a:cs typeface="Calibri"/>
                <a:sym typeface="Calibri"/>
              </a:rPr>
              <a:t>Baseline: 0,1733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8"/>
          <p:cNvSpPr/>
          <p:nvPr/>
        </p:nvSpPr>
        <p:spPr>
          <a:xfrm>
            <a:off x="7269480" y="3246120"/>
            <a:ext cx="1554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D1457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AD1457"/>
                </a:solidFill>
                <a:latin typeface="Calibri"/>
                <a:ea typeface="Calibri"/>
                <a:cs typeface="Calibri"/>
                <a:sym typeface="Calibri"/>
              </a:rPr>
              <a:t>SVM: 0,1600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8"/>
          <p:cNvSpPr/>
          <p:nvPr/>
        </p:nvSpPr>
        <p:spPr>
          <a:xfrm>
            <a:off x="182880" y="3675888"/>
            <a:ext cx="8778240" cy="420624"/>
          </a:xfrm>
          <a:prstGeom prst="rect">
            <a:avLst/>
          </a:prstGeom>
          <a:solidFill>
            <a:srgbClr val="FFF5F5"/>
          </a:solidFill>
          <a:ln cap="flat" cmpd="sng" w="9525">
            <a:solidFill>
              <a:srgbClr val="FFCD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18"/>
          <p:cNvSpPr/>
          <p:nvPr/>
        </p:nvSpPr>
        <p:spPr>
          <a:xfrm>
            <a:off x="274320" y="3703320"/>
            <a:ext cx="4114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Equalized Odds Difference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8"/>
          <p:cNvSpPr/>
          <p:nvPr/>
        </p:nvSpPr>
        <p:spPr>
          <a:xfrm>
            <a:off x="4434840" y="3703320"/>
            <a:ext cx="1188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909C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78909C"/>
                </a:solidFill>
                <a:latin typeface="Calibri"/>
                <a:ea typeface="Calibri"/>
                <a:cs typeface="Calibri"/>
                <a:sym typeface="Calibri"/>
              </a:rPr>
              <a:t>Ideal: ↓ 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8"/>
          <p:cNvSpPr/>
          <p:nvPr/>
        </p:nvSpPr>
        <p:spPr>
          <a:xfrm>
            <a:off x="5669280" y="3703320"/>
            <a:ext cx="1554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6282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62828"/>
                </a:solidFill>
                <a:latin typeface="Calibri"/>
                <a:ea typeface="Calibri"/>
                <a:cs typeface="Calibri"/>
                <a:sym typeface="Calibri"/>
              </a:rPr>
              <a:t>Baseline: 0,1875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8"/>
          <p:cNvSpPr/>
          <p:nvPr/>
        </p:nvSpPr>
        <p:spPr>
          <a:xfrm>
            <a:off x="7269480" y="3703320"/>
            <a:ext cx="1554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D1457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AD1457"/>
                </a:solidFill>
                <a:latin typeface="Calibri"/>
                <a:ea typeface="Calibri"/>
                <a:cs typeface="Calibri"/>
                <a:sym typeface="Calibri"/>
              </a:rPr>
              <a:t>SVM: 0,1875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8"/>
          <p:cNvSpPr/>
          <p:nvPr/>
        </p:nvSpPr>
        <p:spPr>
          <a:xfrm>
            <a:off x="182880" y="4133088"/>
            <a:ext cx="8778240" cy="420624"/>
          </a:xfrm>
          <a:prstGeom prst="rect">
            <a:avLst/>
          </a:prstGeom>
          <a:solidFill>
            <a:srgbClr val="FFEBEE"/>
          </a:solidFill>
          <a:ln cap="flat" cmpd="sng" w="9525">
            <a:solidFill>
              <a:srgbClr val="FFCD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18"/>
          <p:cNvSpPr/>
          <p:nvPr/>
        </p:nvSpPr>
        <p:spPr>
          <a:xfrm>
            <a:off x="274320" y="4160520"/>
            <a:ext cx="4114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Disparate Impact Ratio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8"/>
          <p:cNvSpPr/>
          <p:nvPr/>
        </p:nvSpPr>
        <p:spPr>
          <a:xfrm>
            <a:off x="4434840" y="4160520"/>
            <a:ext cx="1188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909C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78909C"/>
                </a:solidFill>
                <a:latin typeface="Calibri"/>
                <a:ea typeface="Calibri"/>
                <a:cs typeface="Calibri"/>
                <a:sym typeface="Calibri"/>
              </a:rPr>
              <a:t>Ideal: ↑ 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8"/>
          <p:cNvSpPr/>
          <p:nvPr/>
        </p:nvSpPr>
        <p:spPr>
          <a:xfrm>
            <a:off x="5669280" y="4160520"/>
            <a:ext cx="1554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6282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62828"/>
                </a:solidFill>
                <a:latin typeface="Calibri"/>
                <a:ea typeface="Calibri"/>
                <a:cs typeface="Calibri"/>
                <a:sym typeface="Calibri"/>
              </a:rPr>
              <a:t>Baseline: 0,1798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8"/>
          <p:cNvSpPr/>
          <p:nvPr/>
        </p:nvSpPr>
        <p:spPr>
          <a:xfrm>
            <a:off x="7269480" y="4160520"/>
            <a:ext cx="1554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D1457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AD1457"/>
                </a:solidFill>
                <a:latin typeface="Calibri"/>
                <a:ea typeface="Calibri"/>
                <a:cs typeface="Calibri"/>
                <a:sym typeface="Calibri"/>
              </a:rPr>
              <a:t>SVM: 0,2697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8"/>
          <p:cNvSpPr/>
          <p:nvPr/>
        </p:nvSpPr>
        <p:spPr>
          <a:xfrm>
            <a:off x="182880" y="4681728"/>
            <a:ext cx="2743200" cy="384048"/>
          </a:xfrm>
          <a:prstGeom prst="rect">
            <a:avLst/>
          </a:prstGeom>
          <a:solidFill>
            <a:srgbClr val="EEF4FF"/>
          </a:solidFill>
          <a:ln cap="flat" cmpd="sng" w="12700">
            <a:solidFill>
              <a:srgbClr val="BBDE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18"/>
          <p:cNvSpPr/>
          <p:nvPr/>
        </p:nvSpPr>
        <p:spPr>
          <a:xfrm>
            <a:off x="274320" y="4709160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Fig. 16 — Heatmap fairness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8"/>
          <p:cNvSpPr/>
          <p:nvPr/>
        </p:nvSpPr>
        <p:spPr>
          <a:xfrm>
            <a:off x="3108960" y="4681728"/>
            <a:ext cx="2926080" cy="384048"/>
          </a:xfrm>
          <a:prstGeom prst="rect">
            <a:avLst/>
          </a:prstGeom>
          <a:solidFill>
            <a:srgbClr val="EEF4FF"/>
          </a:solidFill>
          <a:ln cap="flat" cmpd="sng" w="12700">
            <a:solidFill>
              <a:srgbClr val="BBDE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18"/>
          <p:cNvSpPr/>
          <p:nvPr/>
        </p:nvSpPr>
        <p:spPr>
          <a:xfrm>
            <a:off x="3200400" y="470916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Fig. 17 — Indicadores vs umbral 0,10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8"/>
          <p:cNvSpPr/>
          <p:nvPr/>
        </p:nvSpPr>
        <p:spPr>
          <a:xfrm>
            <a:off x="6217920" y="4681728"/>
            <a:ext cx="2743200" cy="384048"/>
          </a:xfrm>
          <a:prstGeom prst="rect">
            <a:avLst/>
          </a:prstGeom>
          <a:solidFill>
            <a:srgbClr val="EEF4FF"/>
          </a:solidFill>
          <a:ln cap="flat" cmpd="sng" w="12700">
            <a:solidFill>
              <a:srgbClr val="BBDE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18"/>
          <p:cNvSpPr/>
          <p:nvPr/>
        </p:nvSpPr>
        <p:spPr>
          <a:xfrm>
            <a:off x="6309360" y="4709160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Fig. 18 — Curvas ROC por grupo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19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B71C1C"/>
          </a:solidFill>
          <a:ln cap="flat" cmpd="sng" w="12700">
            <a:solidFill>
              <a:srgbClr val="B71C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19"/>
          <p:cNvSpPr/>
          <p:nvPr/>
        </p:nvSpPr>
        <p:spPr>
          <a:xfrm>
            <a:off x="365760" y="109728"/>
            <a:ext cx="84124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5. Fairness — Visualizaciones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9"/>
          <p:cNvSpPr/>
          <p:nvPr/>
        </p:nvSpPr>
        <p:spPr>
          <a:xfrm>
            <a:off x="182850" y="1148550"/>
            <a:ext cx="8778300" cy="3053400"/>
          </a:xfrm>
          <a:prstGeom prst="rect">
            <a:avLst/>
          </a:prstGeom>
          <a:solidFill>
            <a:srgbClr val="EEF4FF"/>
          </a:solidFill>
          <a:ln cap="flat" cmpd="sng" w="12700">
            <a:solidFill>
              <a:srgbClr val="BBDE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19"/>
          <p:cNvSpPr/>
          <p:nvPr/>
        </p:nvSpPr>
        <p:spPr>
          <a:xfrm>
            <a:off x="320010" y="973922"/>
            <a:ext cx="8412600" cy="63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Fig. 16 — Heatmap de métricas por grupo sensible (izq=baseline, der=SVM RBF)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73" name="Google Shape;47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290" y="1623972"/>
            <a:ext cx="8595371" cy="22653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3e2ac56ac0a_1_0"/>
          <p:cNvSpPr/>
          <p:nvPr/>
        </p:nvSpPr>
        <p:spPr>
          <a:xfrm>
            <a:off x="0" y="0"/>
            <a:ext cx="9144000" cy="777300"/>
          </a:xfrm>
          <a:prstGeom prst="rect">
            <a:avLst/>
          </a:prstGeom>
          <a:solidFill>
            <a:srgbClr val="B71C1C"/>
          </a:solidFill>
          <a:ln cap="flat" cmpd="sng" w="12700">
            <a:solidFill>
              <a:srgbClr val="B71C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g3e2ac56ac0a_1_0"/>
          <p:cNvSpPr/>
          <p:nvPr/>
        </p:nvSpPr>
        <p:spPr>
          <a:xfrm>
            <a:off x="365760" y="109728"/>
            <a:ext cx="84126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5. Fairness — Visualizaciones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g3e2ac56ac0a_1_0"/>
          <p:cNvSpPr/>
          <p:nvPr/>
        </p:nvSpPr>
        <p:spPr>
          <a:xfrm>
            <a:off x="182875" y="909195"/>
            <a:ext cx="4389000" cy="3388500"/>
          </a:xfrm>
          <a:prstGeom prst="rect">
            <a:avLst/>
          </a:prstGeom>
          <a:solidFill>
            <a:srgbClr val="EEF4FF"/>
          </a:solidFill>
          <a:ln cap="flat" cmpd="sng" w="12700">
            <a:solidFill>
              <a:srgbClr val="BBDE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g3e2ac56ac0a_1_0"/>
          <p:cNvSpPr/>
          <p:nvPr/>
        </p:nvSpPr>
        <p:spPr>
          <a:xfrm>
            <a:off x="274278" y="1026028"/>
            <a:ext cx="4206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Fig. 17 — Indicadores de fairness (línea roja = umbral 0,10)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83" name="Google Shape;483;g3e2ac56ac0a_1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5" y="1376816"/>
            <a:ext cx="4206225" cy="2838551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g3e2ac56ac0a_1_0"/>
          <p:cNvSpPr/>
          <p:nvPr/>
        </p:nvSpPr>
        <p:spPr>
          <a:xfrm>
            <a:off x="4658400" y="909250"/>
            <a:ext cx="4302900" cy="3028500"/>
          </a:xfrm>
          <a:prstGeom prst="rect">
            <a:avLst/>
          </a:prstGeom>
          <a:solidFill>
            <a:srgbClr val="EEF4FF"/>
          </a:solidFill>
          <a:ln cap="flat" cmpd="sng" w="12700">
            <a:solidFill>
              <a:srgbClr val="BBDE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g3e2ac56ac0a_1_0"/>
          <p:cNvSpPr/>
          <p:nvPr/>
        </p:nvSpPr>
        <p:spPr>
          <a:xfrm>
            <a:off x="4694065" y="1026028"/>
            <a:ext cx="4023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Fig. 18 — Curvas ROC por grupo sensible (sexo)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86" name="Google Shape;486;g3e2ac56ac0a_1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74250" y="1426775"/>
            <a:ext cx="4095423" cy="2275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22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A6BAE"/>
          </a:solidFill>
          <a:ln cap="flat" cmpd="sng" w="12700">
            <a:solidFill>
              <a:srgbClr val="1A6BA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22"/>
          <p:cNvSpPr/>
          <p:nvPr/>
        </p:nvSpPr>
        <p:spPr>
          <a:xfrm>
            <a:off x="365760" y="137160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 Conclusiones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22"/>
          <p:cNvSpPr/>
          <p:nvPr/>
        </p:nvSpPr>
        <p:spPr>
          <a:xfrm>
            <a:off x="274320" y="987552"/>
            <a:ext cx="4206240" cy="1920240"/>
          </a:xfrm>
          <a:prstGeom prst="rect">
            <a:avLst/>
          </a:prstGeom>
          <a:solidFill>
            <a:srgbClr val="E3F2FD"/>
          </a:solidFill>
          <a:ln cap="flat" cmpd="sng" w="1905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22"/>
          <p:cNvSpPr/>
          <p:nvPr/>
        </p:nvSpPr>
        <p:spPr>
          <a:xfrm>
            <a:off x="274320" y="987552"/>
            <a:ext cx="4206240" cy="457200"/>
          </a:xfrm>
          <a:prstGeom prst="rect">
            <a:avLst/>
          </a:prstGeom>
          <a:solidFill>
            <a:srgbClr val="1565C0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22"/>
          <p:cNvSpPr/>
          <p:nvPr/>
        </p:nvSpPr>
        <p:spPr>
          <a:xfrm>
            <a:off x="274320" y="987552"/>
            <a:ext cx="4206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Rendimiento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22"/>
          <p:cNvSpPr/>
          <p:nvPr/>
        </p:nvSpPr>
        <p:spPr>
          <a:xfrm>
            <a:off x="411480" y="1508760"/>
            <a:ext cx="393192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SVM RBF es el mejor modelo (AUC-ROC=0,9609, Recall=0,8571). La complejidad del modelo NO es el factor determinante con datos pequeños: la diferencia entre mejor y peor es &lt;5 pp — el límite lo impone el tamaño y calidad de los datos.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22"/>
          <p:cNvSpPr/>
          <p:nvPr/>
        </p:nvSpPr>
        <p:spPr>
          <a:xfrm>
            <a:off x="4754880" y="987552"/>
            <a:ext cx="4206240" cy="1920240"/>
          </a:xfrm>
          <a:prstGeom prst="rect">
            <a:avLst/>
          </a:prstGeom>
          <a:solidFill>
            <a:srgbClr val="FFF3E0"/>
          </a:solidFill>
          <a:ln cap="flat" cmpd="sng" w="19050">
            <a:solidFill>
              <a:srgbClr val="E6510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22"/>
          <p:cNvSpPr/>
          <p:nvPr/>
        </p:nvSpPr>
        <p:spPr>
          <a:xfrm>
            <a:off x="4754880" y="987552"/>
            <a:ext cx="4206240" cy="457200"/>
          </a:xfrm>
          <a:prstGeom prst="rect">
            <a:avLst/>
          </a:prstGeom>
          <a:solidFill>
            <a:srgbClr val="E65100"/>
          </a:solidFill>
          <a:ln cap="flat" cmpd="sng" w="12700">
            <a:solidFill>
              <a:srgbClr val="E651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22"/>
          <p:cNvSpPr/>
          <p:nvPr/>
        </p:nvSpPr>
        <p:spPr>
          <a:xfrm>
            <a:off x="4754880" y="987552"/>
            <a:ext cx="4206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Explicabilidad SHAP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22"/>
          <p:cNvSpPr/>
          <p:nvPr/>
        </p:nvSpPr>
        <p:spPr>
          <a:xfrm>
            <a:off x="4892040" y="1508760"/>
            <a:ext cx="393192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Variables clave: thal (defecto reversible), cp (asintomático), ca (vasos por fluoroscopia) y oldpeak (depresión ST). Waterfall plots cumplen los requisitos de trazabilidad del RGPD y el AI Act.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22"/>
          <p:cNvSpPr/>
          <p:nvPr/>
        </p:nvSpPr>
        <p:spPr>
          <a:xfrm>
            <a:off x="274320" y="3090672"/>
            <a:ext cx="4206240" cy="1920240"/>
          </a:xfrm>
          <a:prstGeom prst="rect">
            <a:avLst/>
          </a:prstGeom>
          <a:solidFill>
            <a:srgbClr val="E0F2F1"/>
          </a:solidFill>
          <a:ln cap="flat" cmpd="sng" w="19050">
            <a:solidFill>
              <a:srgbClr val="00695C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22"/>
          <p:cNvSpPr/>
          <p:nvPr/>
        </p:nvSpPr>
        <p:spPr>
          <a:xfrm>
            <a:off x="274320" y="3090672"/>
            <a:ext cx="4206240" cy="457200"/>
          </a:xfrm>
          <a:prstGeom prst="rect">
            <a:avLst/>
          </a:prstGeom>
          <a:solidFill>
            <a:srgbClr val="00695C"/>
          </a:solidFill>
          <a:ln cap="flat" cmpd="sng" w="12700">
            <a:solidFill>
              <a:srgbClr val="0069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22"/>
          <p:cNvSpPr/>
          <p:nvPr/>
        </p:nvSpPr>
        <p:spPr>
          <a:xfrm>
            <a:off x="274320" y="3090672"/>
            <a:ext cx="4206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Privacidad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22"/>
          <p:cNvSpPr/>
          <p:nvPr/>
        </p:nvSpPr>
        <p:spPr>
          <a:xfrm>
            <a:off x="411480" y="3611880"/>
            <a:ext cx="393192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SMOTETomek local es compatible con aprendizaje federado. Privacidad diferencial moderada es viable sin degradación significativa del rendimiento.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22"/>
          <p:cNvSpPr/>
          <p:nvPr/>
        </p:nvSpPr>
        <p:spPr>
          <a:xfrm>
            <a:off x="4754880" y="3090672"/>
            <a:ext cx="4206240" cy="1920240"/>
          </a:xfrm>
          <a:prstGeom prst="rect">
            <a:avLst/>
          </a:prstGeom>
          <a:solidFill>
            <a:srgbClr val="FFEBEE"/>
          </a:solidFill>
          <a:ln cap="flat" cmpd="sng" w="19050">
            <a:solidFill>
              <a:srgbClr val="B71C1C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22"/>
          <p:cNvSpPr/>
          <p:nvPr/>
        </p:nvSpPr>
        <p:spPr>
          <a:xfrm>
            <a:off x="4754880" y="3090672"/>
            <a:ext cx="4206240" cy="457200"/>
          </a:xfrm>
          <a:prstGeom prst="rect">
            <a:avLst/>
          </a:prstGeom>
          <a:solidFill>
            <a:srgbClr val="B71C1C"/>
          </a:solidFill>
          <a:ln cap="flat" cmpd="sng" w="12700">
            <a:solidFill>
              <a:srgbClr val="B71C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22"/>
          <p:cNvSpPr/>
          <p:nvPr/>
        </p:nvSpPr>
        <p:spPr>
          <a:xfrm>
            <a:off x="4754880" y="3090672"/>
            <a:ext cx="4206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Equidad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22"/>
          <p:cNvSpPr/>
          <p:nvPr/>
        </p:nvSpPr>
        <p:spPr>
          <a:xfrm>
            <a:off x="4892040" y="3611880"/>
            <a:ext cx="393192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Sesgo sistemático por sexo (DIR=0,2697, muy por debajo del umbral 0,80). Las métricas globales son INSUFICIENTES — la evaluación desagregada por grupos sensibles debe ser estándar en sistemas de apoyo al diagnóstico médico.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6BAE"/>
        </a:solidFill>
      </p:bgPr>
    </p:bg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23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2A5F5"/>
          </a:solidFill>
          <a:ln cap="flat" cmpd="sng" w="12700">
            <a:solidFill>
              <a:srgbClr val="42A5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23"/>
          <p:cNvSpPr/>
          <p:nvPr/>
        </p:nvSpPr>
        <p:spPr>
          <a:xfrm>
            <a:off x="457200" y="1418825"/>
            <a:ext cx="8229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¡Gracias por vuestra atención!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23"/>
          <p:cNvSpPr/>
          <p:nvPr/>
        </p:nvSpPr>
        <p:spPr>
          <a:xfrm>
            <a:off x="457200" y="2104625"/>
            <a:ext cx="8229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BDEFB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BBDEFB"/>
                </a:solidFill>
                <a:latin typeface="Calibri"/>
                <a:ea typeface="Calibri"/>
                <a:cs typeface="Calibri"/>
                <a:sym typeface="Calibri"/>
              </a:rPr>
              <a:t>Predicción de Riesgo Cardíaco — Privacidad · Explicabilidad · Equidad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23"/>
          <p:cNvSpPr/>
          <p:nvPr/>
        </p:nvSpPr>
        <p:spPr>
          <a:xfrm>
            <a:off x="2286000" y="2607545"/>
            <a:ext cx="4572000" cy="45600"/>
          </a:xfrm>
          <a:prstGeom prst="rect">
            <a:avLst/>
          </a:prstGeom>
          <a:solidFill>
            <a:srgbClr val="42A5F5"/>
          </a:solidFill>
          <a:ln cap="flat" cmpd="sng" w="12700">
            <a:solidFill>
              <a:srgbClr val="42A5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23"/>
          <p:cNvSpPr/>
          <p:nvPr/>
        </p:nvSpPr>
        <p:spPr>
          <a:xfrm>
            <a:off x="457200" y="2744705"/>
            <a:ext cx="8229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0CAF9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90CAF9"/>
                </a:solidFill>
                <a:latin typeface="Calibri"/>
                <a:ea typeface="Calibri"/>
                <a:cs typeface="Calibri"/>
                <a:sym typeface="Calibri"/>
              </a:rPr>
              <a:t>Marcos Francés · Luna Camacho · Irene Robles · Ángel Bustios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23"/>
          <p:cNvSpPr/>
          <p:nvPr/>
        </p:nvSpPr>
        <p:spPr>
          <a:xfrm>
            <a:off x="457200" y="3137897"/>
            <a:ext cx="8229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8909C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78909C"/>
                </a:solidFill>
                <a:latin typeface="Calibri"/>
                <a:ea typeface="Calibri"/>
                <a:cs typeface="Calibri"/>
                <a:sym typeface="Calibri"/>
              </a:rPr>
              <a:t>Universidad de Alicante · Aprendizaje Avanzado 2025/2026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23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42A5F5"/>
          </a:solidFill>
          <a:ln cap="flat" cmpd="sng" w="12700">
            <a:solidFill>
              <a:srgbClr val="42A5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2026-05-16T11:14:13Z</dcterms:created>
  <dc:creator>PptxGenJS</dc:creator>
</cp:coreProperties>
</file>